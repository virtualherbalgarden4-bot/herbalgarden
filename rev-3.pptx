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29"/>
  </p:notesMasterIdLst>
  <p:sldIdLst>
    <p:sldId id="256" r:id="rId5"/>
    <p:sldId id="257" r:id="rId6"/>
    <p:sldId id="278" r:id="rId7"/>
    <p:sldId id="280" r:id="rId8"/>
    <p:sldId id="279" r:id="rId9"/>
    <p:sldId id="294" r:id="rId10"/>
    <p:sldId id="291" r:id="rId11"/>
    <p:sldId id="293" r:id="rId12"/>
    <p:sldId id="292" r:id="rId13"/>
    <p:sldId id="295" r:id="rId14"/>
    <p:sldId id="296" r:id="rId15"/>
    <p:sldId id="284" r:id="rId16"/>
    <p:sldId id="297" r:id="rId17"/>
    <p:sldId id="298" r:id="rId18"/>
    <p:sldId id="290" r:id="rId19"/>
    <p:sldId id="282" r:id="rId20"/>
    <p:sldId id="283" r:id="rId21"/>
    <p:sldId id="285" r:id="rId22"/>
    <p:sldId id="289" r:id="rId23"/>
    <p:sldId id="268" r:id="rId24"/>
    <p:sldId id="286" r:id="rId25"/>
    <p:sldId id="287" r:id="rId26"/>
    <p:sldId id="288" r:id="rId27"/>
    <p:sldId id="266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0BF7CE-FB49-4CC7-88A9-E16CB8F7C499}" v="63" dt="2025-08-19T17:19:35.048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64" autoAdjust="0"/>
  </p:normalViewPr>
  <p:slideViewPr>
    <p:cSldViewPr snapToGrid="0">
      <p:cViewPr>
        <p:scale>
          <a:sx n="75" d="100"/>
          <a:sy n="75" d="100"/>
        </p:scale>
        <p:origin x="5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59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799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1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rtualherbalgarden4-bot/virtual-herbal-garde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atanjali.res.in/world-herbal-encyclopedia.php?utm_source=chatgpt.com" TargetMode="External"/><Relationship Id="rId2" Type="http://schemas.openxmlformats.org/officeDocument/2006/relationships/hyperlink" Target="https://books.google.com/books/about/Gallery_of_Medicinal_Plants.html?id=39V2EAAAQBAJ&amp;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ofiles.wustl.edu/en/publications/traditional-herbal-knowledge-among-the-inhabitants-a-case-study-i?utm_source=chatgpt.com" TargetMode="External"/><Relationship Id="rId5" Type="http://schemas.openxmlformats.org/officeDocument/2006/relationships/hyperlink" Target="https://www.imanagerpublications.com/article/21495/?utm_source=chatgpt.com" TargetMode="External"/><Relationship Id="rId4" Type="http://schemas.openxmlformats.org/officeDocument/2006/relationships/hyperlink" Target="https://journals.mriindia.com/index.php/ijaece/article/view/417?utm_source=chatgpt.com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x.doi.org/10.48175/ijarsct-23945" TargetMode="External"/><Relationship Id="rId2" Type="http://schemas.openxmlformats.org/officeDocument/2006/relationships/hyperlink" Target="https://share.google/HoyCCmKZCRoHYfiy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barajitha123/AYUSH--SIH-Project?utm_source=chatgpt.com" TargetMode="External"/><Relationship Id="rId5" Type="http://schemas.openxmlformats.org/officeDocument/2006/relationships/hyperlink" Target="https://devfolio.co/projects/virtual-herbal-garden-510e?utm_source=chatgpt.com" TargetMode="External"/><Relationship Id="rId4" Type="http://schemas.openxmlformats.org/officeDocument/2006/relationships/hyperlink" Target="https://engineersplanet.com/abstracts/virtual-herbal-garden-for-ayush?utm_source=chatgpt.com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VIRTUAL HERBAL GARDEN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CSG_4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7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Mr. </a:t>
            </a:r>
            <a:r>
              <a:rPr lang="en-IN" sz="1700" b="1" dirty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Arunkumar</a:t>
            </a:r>
            <a:r>
              <a:rPr lang="en-IN" sz="17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K. </a:t>
            </a:r>
            <a:r>
              <a:rPr lang="en-IN" sz="1700" b="1" dirty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Bhavikatti</a:t>
            </a:r>
            <a:endParaRPr sz="1700" b="1" dirty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285135" y="4632222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Computer Science Engineering (Internet of things)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IN" sz="1800" dirty="0">
                <a:solidFill>
                  <a:srgbClr val="FF0000"/>
                </a:solidFill>
              </a:rPr>
              <a:t>Dr. Anandaraj S.P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dirty="0">
                <a:solidFill>
                  <a:srgbClr val="FF0000"/>
                </a:solidFill>
              </a:rPr>
              <a:t>Dr. </a:t>
            </a:r>
            <a:r>
              <a:rPr lang="en-IN" sz="1800" dirty="0" err="1">
                <a:solidFill>
                  <a:srgbClr val="FF0000"/>
                </a:solidFill>
              </a:rPr>
              <a:t>Sharmasth</a:t>
            </a:r>
            <a:r>
              <a:rPr lang="en-IN" sz="1800" dirty="0">
                <a:solidFill>
                  <a:srgbClr val="FF0000"/>
                </a:solidFill>
              </a:rPr>
              <a:t> Vali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1C0FD79-500C-DD53-BFEA-5587EEBDB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086247"/>
              </p:ext>
            </p:extLst>
          </p:nvPr>
        </p:nvGraphicFramePr>
        <p:xfrm>
          <a:off x="871056" y="2769117"/>
          <a:ext cx="4889910" cy="1691640"/>
        </p:xfrm>
        <a:graphic>
          <a:graphicData uri="http://schemas.openxmlformats.org/drawingml/2006/table">
            <a:tbl>
              <a:tblPr firstRow="1" bandRow="1"/>
              <a:tblGrid>
                <a:gridCol w="2444955">
                  <a:extLst>
                    <a:ext uri="{9D8B030D-6E8A-4147-A177-3AD203B41FA5}">
                      <a16:colId xmlns:a16="http://schemas.microsoft.com/office/drawing/2014/main" val="356949612"/>
                    </a:ext>
                  </a:extLst>
                </a:gridCol>
                <a:gridCol w="2444955">
                  <a:extLst>
                    <a:ext uri="{9D8B030D-6E8A-4147-A177-3AD203B41FA5}">
                      <a16:colId xmlns:a16="http://schemas.microsoft.com/office/drawing/2014/main" val="1221776954"/>
                    </a:ext>
                  </a:extLst>
                </a:gridCol>
              </a:tblGrid>
              <a:tr h="3541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Bookman Old Style" panose="02050604050505020204" pitchFamily="18" charset="0"/>
                        </a:rPr>
                        <a:t>Roll Number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Bookman Old Style" panose="02050604050505020204" pitchFamily="18" charset="0"/>
                        </a:rPr>
                        <a:t>Student Name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181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20221CIT0124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SAISHREE</a:t>
                      </a:r>
                      <a:r>
                        <a:rPr lang="en-IN" baseline="0" dirty="0"/>
                        <a:t> 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305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20221CIT0126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SHREYA</a:t>
                      </a:r>
                      <a:r>
                        <a:rPr lang="en-IN" baseline="0" dirty="0"/>
                        <a:t> A J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834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20221CIT0130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NITHYA</a:t>
                      </a:r>
                      <a:r>
                        <a:rPr lang="en-IN" baseline="0" dirty="0"/>
                        <a:t> H 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2714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32465" y="205812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67291" y="1102479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Existing Methods and Drawbacks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Proposed Method &amp; Feasibility Study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Hardware and Software Details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Timeline (Gantt Chart)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Virtual Herbal Garden is a web-based project designed to create an interactive and educational platform showcasing medicinal plants from AYUSH systems (Ayurveda, Yoga &amp; Naturopathy, Unani, Siddha, Homeopathy).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Built with a React frontend, Node.js backend, and MongoDB Atlas database, it offers features like plant search, categorization, image-based identification, and AR/3D visualization.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project bridges traditional knowledge with digital tools, raising awareness, accessibility, and conservation of medicinal plants, while providing scope for future integration in healthcare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education.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Limitations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Build an interactive Virtual Herbal Garden showcasing medicinal plants from AYUSH systems (Ayurveda, Yoga, Unani, Siddha, Homeopathy).</a:t>
            </a:r>
          </a:p>
          <a:p>
            <a:pPr algn="just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Provide plant search &amp; filtering by medicinal use, region, and system of medicine.</a:t>
            </a:r>
          </a:p>
          <a:p>
            <a:pPr algn="just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Integrate multimedia elements (images, videos, 3D/AR models) for immersive learning.</a:t>
            </a:r>
          </a:p>
          <a:p>
            <a:pPr algn="just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Support user-friendly accessibility with multilingual content (English + Indian languages).</a:t>
            </a:r>
          </a:p>
          <a:p>
            <a:pPr algn="just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Deploy a scalable, web-based system using React (frontend), Node.js/Express (backend), and MongoDB Atlas (database).</a:t>
            </a:r>
          </a:p>
          <a:p>
            <a:pPr algn="just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Enhance user engagement with quizzes, guided tours, and interactive plant identification.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446" y="245093"/>
            <a:ext cx="10668000" cy="487500"/>
          </a:xfrm>
        </p:spPr>
        <p:txBody>
          <a:bodyPr/>
          <a:lstStyle/>
          <a:p>
            <a:r>
              <a:rPr lang="en-US" dirty="0" smtClean="0"/>
              <a:t>ALGORITHM DETAILS</a:t>
            </a:r>
            <a:endParaRPr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24541" y="954742"/>
            <a:ext cx="10668000" cy="4953000"/>
          </a:xfrm>
        </p:spPr>
        <p:txBody>
          <a:bodyPr>
            <a:noAutofit/>
          </a:bodyPr>
          <a:lstStyle/>
          <a:p>
            <a:pPr marL="76200" indent="0">
              <a:buNone/>
            </a:pPr>
            <a:r>
              <a:rPr lang="en-US" sz="2800" b="1" dirty="0" smtClean="0"/>
              <a:t>1. </a:t>
            </a:r>
            <a:r>
              <a:rPr lang="en-US" sz="2800" b="1" dirty="0"/>
              <a:t>Backend Layer (Data Handling + API)</a:t>
            </a:r>
          </a:p>
          <a:p>
            <a:pPr marL="8763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Algorithms here handle </a:t>
            </a:r>
            <a:r>
              <a:rPr lang="en-US" sz="2400" b="1" dirty="0"/>
              <a:t>data organization and retrieval</a:t>
            </a:r>
            <a:r>
              <a:rPr lang="en-US" sz="2400" dirty="0"/>
              <a:t>:</a:t>
            </a:r>
          </a:p>
          <a:p>
            <a:pPr marL="8763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CRUD Operations</a:t>
            </a:r>
            <a:r>
              <a:rPr lang="en-US" sz="2400" dirty="0"/>
              <a:t> on MongoDB for plant data.</a:t>
            </a:r>
          </a:p>
          <a:p>
            <a:pPr marL="8763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Search &amp; Filtering Algorithms</a:t>
            </a:r>
            <a:endParaRPr lang="en-US" sz="2400" dirty="0"/>
          </a:p>
          <a:p>
            <a:pPr marL="13017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Text-based </a:t>
            </a:r>
            <a:r>
              <a:rPr lang="en-US" sz="2000" i="1" dirty="0"/>
              <a:t>string matching</a:t>
            </a:r>
            <a:r>
              <a:rPr lang="en-US" sz="2000" dirty="0"/>
              <a:t> (case-insensitive substring search).</a:t>
            </a:r>
          </a:p>
          <a:p>
            <a:pPr marL="1301750" lvl="2" indent="-285750">
              <a:buFont typeface="Arial" panose="020B0604020202020204" pitchFamily="34" charset="0"/>
              <a:buChar char="•"/>
            </a:pPr>
            <a:r>
              <a:rPr lang="en-US" sz="2000" i="1" dirty="0"/>
              <a:t>Tokenization + keyword matching</a:t>
            </a:r>
            <a:r>
              <a:rPr lang="en-US" sz="2000" dirty="0"/>
              <a:t> (for scientific vs. common names).</a:t>
            </a:r>
          </a:p>
          <a:p>
            <a:pPr marL="8763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Recommendation </a:t>
            </a:r>
            <a:r>
              <a:rPr lang="en-US" sz="2400" b="1" dirty="0" smtClean="0"/>
              <a:t>Algorithm</a:t>
            </a:r>
            <a:endParaRPr lang="en-US" sz="2400" dirty="0"/>
          </a:p>
          <a:p>
            <a:pPr marL="13017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Content-based filtering: “Show plants with similar properties/uses</a:t>
            </a:r>
            <a:r>
              <a:rPr lang="en-US" sz="2000" dirty="0" smtClean="0"/>
              <a:t>.”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76200" indent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Pseudo-code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863600"/>
            <a:ext cx="10668000" cy="5232401"/>
          </a:xfrm>
        </p:spPr>
        <p:txBody>
          <a:bodyPr/>
          <a:lstStyle/>
          <a:p>
            <a:pPr marL="76200" indent="0">
              <a:buNone/>
            </a:pPr>
            <a:r>
              <a:rPr lang="en-US" dirty="0" smtClean="0"/>
              <a:t>Database</a:t>
            </a:r>
          </a:p>
          <a:p>
            <a:pPr marL="7620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1333500"/>
            <a:ext cx="10668000" cy="500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177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DETAILS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357346"/>
            <a:ext cx="1099371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Frontend Layer (UI/UX + Learning Modules)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Algorithms here focus on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interaction and learning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Ranking Algorithm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Rank plants by relevance score (matches in common name &gt; properties &gt; systems).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 Combination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Boolean logic: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(Plant matches query) AND (Plant selected systems)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Gamification Algorithms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Points &amp; progress tracking → simple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cumulative scoring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Animation/Interaction Algorithms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Framer Motion easing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functions for smooth transitions.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696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Pseudo-code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99" y="1669143"/>
            <a:ext cx="5384701" cy="394916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100" y="1092203"/>
            <a:ext cx="5384700" cy="4526100"/>
          </a:xfrm>
        </p:spPr>
        <p:txBody>
          <a:bodyPr/>
          <a:lstStyle/>
          <a:p>
            <a:pPr marL="50800" indent="0">
              <a:buNone/>
            </a:pPr>
            <a:r>
              <a:rPr lang="en-US" dirty="0" smtClean="0"/>
              <a:t>Main page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6134100" y="1092203"/>
            <a:ext cx="5384700" cy="4526100"/>
          </a:xfrm>
        </p:spPr>
        <p:txBody>
          <a:bodyPr/>
          <a:lstStyle/>
          <a:p>
            <a:pPr marL="50800" indent="0">
              <a:buNone/>
            </a:pPr>
            <a:r>
              <a:rPr lang="en-US" dirty="0" smtClean="0"/>
              <a:t>Filter page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100" y="1669143"/>
            <a:ext cx="5747658" cy="394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91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DETAILS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Educational / Knowledge Layer</a:t>
            </a:r>
          </a:p>
          <a:p>
            <a:pPr marL="76200" indent="0">
              <a:buNone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To make it immersive and useful:</a:t>
            </a:r>
          </a:p>
          <a:p>
            <a:pPr lvl="1"/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Quiz Evaluation Algorithm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2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Multiple-choice →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deterministic scoring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lvl="1"/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Recommendation for Next Lesson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2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Simple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rule-based sequencing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(unlock next module after completing current).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000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Pseudo-code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889000"/>
            <a:ext cx="10668000" cy="5207001"/>
          </a:xfrm>
        </p:spPr>
        <p:txBody>
          <a:bodyPr/>
          <a:lstStyle/>
          <a:p>
            <a:pPr marL="76200" indent="0">
              <a:buNone/>
            </a:pPr>
            <a:r>
              <a:rPr lang="en-US" dirty="0" smtClean="0"/>
              <a:t>Quiz page</a:t>
            </a:r>
          </a:p>
          <a:p>
            <a:pPr marL="7620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1435100"/>
            <a:ext cx="10668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519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 code details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Filtering code implementation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1765300"/>
            <a:ext cx="10668000" cy="4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496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Modules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1400B4-CE58-8E52-A63B-07B864533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314768"/>
              </p:ext>
            </p:extLst>
          </p:nvPr>
        </p:nvGraphicFramePr>
        <p:xfrm>
          <a:off x="812799" y="1083460"/>
          <a:ext cx="11007166" cy="4877857"/>
        </p:xfrm>
        <a:graphic>
          <a:graphicData uri="http://schemas.openxmlformats.org/drawingml/2006/table">
            <a:tbl>
              <a:tblPr firstRow="1" bandRow="1"/>
              <a:tblGrid>
                <a:gridCol w="3764852">
                  <a:extLst>
                    <a:ext uri="{9D8B030D-6E8A-4147-A177-3AD203B41FA5}">
                      <a16:colId xmlns:a16="http://schemas.microsoft.com/office/drawing/2014/main" val="1872565446"/>
                    </a:ext>
                  </a:extLst>
                </a:gridCol>
                <a:gridCol w="7242314">
                  <a:extLst>
                    <a:ext uri="{9D8B030D-6E8A-4147-A177-3AD203B41FA5}">
                      <a16:colId xmlns:a16="http://schemas.microsoft.com/office/drawing/2014/main" val="2337367072"/>
                    </a:ext>
                  </a:extLst>
                </a:gridCol>
              </a:tblGrid>
              <a:tr h="616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Module</a:t>
                      </a:r>
                    </a:p>
                    <a:p>
                      <a:pPr>
                        <a:buNone/>
                      </a:pP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Functionality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213420"/>
                  </a:ext>
                </a:extLst>
              </a:tr>
              <a:tr h="717231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 login, registration, profile management, and personalized plant bookmarks..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344850"/>
                  </a:ext>
                </a:extLst>
              </a:tr>
              <a:tr h="717231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Frontend Module (React)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Interactive UI, plant visualization, search/filter, and 3D/AR view integration.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335299"/>
                  </a:ext>
                </a:extLst>
              </a:tr>
              <a:tr h="101256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Backend Module (Node.js + Express.js)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Handles APIs, authentication, CRUD operations for plant data.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293939"/>
                  </a:ext>
                </a:extLst>
              </a:tr>
              <a:tr h="101256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Database Module (MongoDB Atlas)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Stores plant details, images, multimedia, and user data.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446821"/>
                  </a:ext>
                </a:extLst>
              </a:tr>
              <a:tr h="71723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Search &amp; Filter Module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Allows filtering by medicinal use, plant type, or region.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987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 implementation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77900"/>
            <a:ext cx="5384700" cy="5148403"/>
          </a:xfrm>
        </p:spPr>
        <p:txBody>
          <a:bodyPr/>
          <a:lstStyle/>
          <a:p>
            <a:pPr marL="50800" indent="0">
              <a:buNone/>
            </a:pPr>
            <a:r>
              <a:rPr lang="en-US" dirty="0" smtClean="0"/>
              <a:t>Home page</a:t>
            </a:r>
          </a:p>
          <a:p>
            <a:pPr marL="5080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6197600" y="977900"/>
            <a:ext cx="5384700" cy="5148403"/>
          </a:xfrm>
        </p:spPr>
        <p:txBody>
          <a:bodyPr/>
          <a:lstStyle/>
          <a:p>
            <a:pPr marL="50800" indent="0">
              <a:buNone/>
            </a:pPr>
            <a:r>
              <a:rPr lang="en-US" dirty="0" smtClean="0"/>
              <a:t>Quiz page</a:t>
            </a:r>
          </a:p>
          <a:p>
            <a:pPr marL="5080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12901"/>
            <a:ext cx="5384700" cy="4381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1612900"/>
            <a:ext cx="5283200" cy="438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678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 implementation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39800"/>
            <a:ext cx="5384700" cy="5186503"/>
          </a:xfrm>
        </p:spPr>
        <p:txBody>
          <a:bodyPr/>
          <a:lstStyle/>
          <a:p>
            <a:pPr marL="50800" indent="0">
              <a:buNone/>
            </a:pPr>
            <a:r>
              <a:rPr lang="en-US" dirty="0" smtClean="0"/>
              <a:t>Filter page</a:t>
            </a:r>
          </a:p>
          <a:p>
            <a:pPr marL="5080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6197600" y="939800"/>
            <a:ext cx="5384700" cy="5186503"/>
          </a:xfrm>
        </p:spPr>
        <p:txBody>
          <a:bodyPr/>
          <a:lstStyle/>
          <a:p>
            <a:pPr marL="50800" indent="0">
              <a:buNone/>
            </a:pPr>
            <a:r>
              <a:rPr lang="en-US" dirty="0" smtClean="0"/>
              <a:t>3D model</a:t>
            </a:r>
          </a:p>
          <a:p>
            <a:pPr marL="5080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300" y="1536700"/>
            <a:ext cx="5486500" cy="43942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36701"/>
            <a:ext cx="51689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960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6402B-2C21-6996-92C6-C5BF6A741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Methods and Drawbacks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5946F-2FB2-CD99-AE8A-DDF587E6B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IN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7AD194-3ECE-DF41-56DC-961299A6B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796714"/>
              </p:ext>
            </p:extLst>
          </p:nvPr>
        </p:nvGraphicFramePr>
        <p:xfrm>
          <a:off x="1012722" y="1238865"/>
          <a:ext cx="10366476" cy="4621164"/>
        </p:xfrm>
        <a:graphic>
          <a:graphicData uri="http://schemas.openxmlformats.org/drawingml/2006/table">
            <a:tbl>
              <a:tblPr firstRow="1" bandRow="1"/>
              <a:tblGrid>
                <a:gridCol w="3455492">
                  <a:extLst>
                    <a:ext uri="{9D8B030D-6E8A-4147-A177-3AD203B41FA5}">
                      <a16:colId xmlns:a16="http://schemas.microsoft.com/office/drawing/2014/main" val="1175572355"/>
                    </a:ext>
                  </a:extLst>
                </a:gridCol>
                <a:gridCol w="3455492">
                  <a:extLst>
                    <a:ext uri="{9D8B030D-6E8A-4147-A177-3AD203B41FA5}">
                      <a16:colId xmlns:a16="http://schemas.microsoft.com/office/drawing/2014/main" val="986212114"/>
                    </a:ext>
                  </a:extLst>
                </a:gridCol>
                <a:gridCol w="3455492">
                  <a:extLst>
                    <a:ext uri="{9D8B030D-6E8A-4147-A177-3AD203B41FA5}">
                      <a16:colId xmlns:a16="http://schemas.microsoft.com/office/drawing/2014/main" val="2016801666"/>
                    </a:ext>
                  </a:extLst>
                </a:gridCol>
              </a:tblGrid>
              <a:tr h="770194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+mj-lt"/>
                        </a:rPr>
                        <a:t>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+mj-lt"/>
                        </a:rPr>
                        <a:t>Existing Methods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+mj-lt"/>
                        </a:rPr>
                        <a:t>Drawbacks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210347"/>
                  </a:ext>
                </a:extLst>
              </a:tr>
              <a:tr h="770194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/>
                        <a:t>Traditional Herbal Gardens (Physical)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Preserve plant biodiversity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Limited reach, not interactive or accessible remotely.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185426"/>
                  </a:ext>
                </a:extLst>
              </a:tr>
              <a:tr h="770194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/>
                        <a:t>Digital Herbal Databases (IMPPAT, NMPB)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Provide structured medicinal plant information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Text-heavy, lack interactive features or visualization.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75660"/>
                  </a:ext>
                </a:extLst>
              </a:tr>
              <a:tr h="770194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/>
                        <a:t>Plant Identification Apps (</a:t>
                      </a:r>
                      <a:r>
                        <a:rPr lang="en-US" sz="1400" b="1" dirty="0" err="1"/>
                        <a:t>PlantSnap</a:t>
                      </a:r>
                      <a:r>
                        <a:rPr lang="en-US" sz="1400" b="1" dirty="0"/>
                        <a:t>, </a:t>
                      </a:r>
                      <a:r>
                        <a:rPr lang="en-US" sz="1400" b="1" dirty="0" err="1"/>
                        <a:t>LeafSnap</a:t>
                      </a:r>
                      <a:r>
                        <a:rPr lang="en-US" sz="1400" b="1" dirty="0"/>
                        <a:t>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Image recognition for plants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General use, not AYUSH/medicinal plant-specific.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123231"/>
                  </a:ext>
                </a:extLst>
              </a:tr>
              <a:tr h="770194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/>
                        <a:t>AR/VR Educational Tools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Immersive plant exploration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Limited datasets, often commercial/non-medical focus.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715785"/>
                  </a:ext>
                </a:extLst>
              </a:tr>
              <a:tr h="770194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/>
                        <a:t>Gap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Few integrated systems combining AYUSH knowledge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 Interactive multimedia + accessibility is not present at once.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543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982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Proposed Method &amp; Feasibility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b="1" dirty="0">
                <a:latin typeface="Cambiria"/>
                <a:ea typeface="Cambria" panose="02040503050406030204" pitchFamily="18" charset="0"/>
              </a:rPr>
              <a:t>Proposed Method</a:t>
            </a:r>
            <a:endParaRPr lang="en-US" dirty="0">
              <a:latin typeface="Cambiria"/>
              <a:ea typeface="Cambria" panose="02040503050406030204" pitchFamily="18" charset="0"/>
            </a:endParaRPr>
          </a:p>
          <a:p>
            <a:r>
              <a:rPr lang="en-US" dirty="0">
                <a:latin typeface="Cambiria"/>
                <a:ea typeface="Cambria" panose="02040503050406030204" pitchFamily="18" charset="0"/>
              </a:rPr>
              <a:t>Build a website to showcase medicinal plants with details, images, and search/filter options.</a:t>
            </a:r>
          </a:p>
          <a:p>
            <a:r>
              <a:rPr lang="en-US" dirty="0">
                <a:latin typeface="Cambiria"/>
                <a:ea typeface="Cambria" panose="02040503050406030204" pitchFamily="18" charset="0"/>
              </a:rPr>
              <a:t>Provide multilingual support and easy navigation.</a:t>
            </a:r>
          </a:p>
          <a:p>
            <a:pPr marL="76200" indent="0">
              <a:buNone/>
            </a:pPr>
            <a:r>
              <a:rPr lang="en-US" b="1" dirty="0">
                <a:latin typeface="Cambiria"/>
                <a:ea typeface="Cambria" panose="02040503050406030204" pitchFamily="18" charset="0"/>
              </a:rPr>
              <a:t>Justification</a:t>
            </a:r>
            <a:endParaRPr lang="en-US" dirty="0">
              <a:latin typeface="Cambiria"/>
              <a:ea typeface="Cambria" panose="02040503050406030204" pitchFamily="18" charset="0"/>
            </a:endParaRPr>
          </a:p>
          <a:p>
            <a:r>
              <a:rPr lang="en-US" dirty="0">
                <a:latin typeface="Cambiria"/>
                <a:ea typeface="Cambria" panose="02040503050406030204" pitchFamily="18" charset="0"/>
              </a:rPr>
              <a:t>Makes herbal knowledge accessible and engaging.</a:t>
            </a:r>
          </a:p>
          <a:p>
            <a:r>
              <a:rPr lang="en-US" dirty="0">
                <a:latin typeface="Cambiria"/>
                <a:ea typeface="Cambria" panose="02040503050406030204" pitchFamily="18" charset="0"/>
              </a:rPr>
              <a:t>Helps students, researchers, and the public learn easily.</a:t>
            </a:r>
          </a:p>
          <a:p>
            <a:pPr marL="76200" indent="0">
              <a:buNone/>
            </a:pPr>
            <a:r>
              <a:rPr lang="en-US" b="1" dirty="0">
                <a:latin typeface="Cambiria"/>
                <a:ea typeface="Cambria" panose="02040503050406030204" pitchFamily="18" charset="0"/>
              </a:rPr>
              <a:t>Feasibility</a:t>
            </a:r>
            <a:endParaRPr lang="en-US" dirty="0">
              <a:latin typeface="Cambiria"/>
              <a:ea typeface="Cambria" panose="02040503050406030204" pitchFamily="18" charset="0"/>
            </a:endParaRPr>
          </a:p>
          <a:p>
            <a:r>
              <a:rPr lang="en-US" dirty="0">
                <a:latin typeface="Cambiria"/>
                <a:ea typeface="Cambria" panose="02040503050406030204" pitchFamily="18" charset="0"/>
              </a:rPr>
              <a:t>Uses MERN stack (open-source, low cost).</a:t>
            </a:r>
          </a:p>
          <a:p>
            <a:r>
              <a:rPr lang="en-US" dirty="0">
                <a:latin typeface="Cambiria"/>
                <a:ea typeface="Cambria" panose="02040503050406030204" pitchFamily="18" charset="0"/>
              </a:rPr>
              <a:t>Needs only basic cloud hosting, no heavy </a:t>
            </a:r>
            <a:r>
              <a:rPr lang="en-US" dirty="0">
                <a:latin typeface="Cambiria"/>
                <a:cs typeface="Calibri" panose="020F0502020204030204" pitchFamily="34" charset="0"/>
              </a:rPr>
              <a:t>resources.</a:t>
            </a:r>
          </a:p>
          <a:p>
            <a:pPr marL="76200" indent="0">
              <a:buNone/>
            </a:pPr>
            <a:endParaRPr lang="en-IN" dirty="0">
              <a:latin typeface="Cambiria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Architecture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04637D-EC3A-CBC4-E0C6-11FAF6FC7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6" y="1107665"/>
            <a:ext cx="11473543" cy="48253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Hardware and Software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5C261-1F3A-47C4-B187-E2DAB12D9D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76200" indent="0">
              <a:buNone/>
            </a:pPr>
            <a:r>
              <a:rPr lang="en-IN" b="1" dirty="0">
                <a:latin typeface="Cambiria"/>
              </a:rPr>
              <a:t>1. Software Requirements</a:t>
            </a:r>
            <a:endParaRPr lang="en-IN" dirty="0">
              <a:latin typeface="Cambiria"/>
            </a:endParaRPr>
          </a:p>
          <a:p>
            <a:pPr marL="533400" lvl="1" indent="0">
              <a:buNone/>
            </a:pPr>
            <a:r>
              <a:rPr lang="en-IN" sz="2400" dirty="0">
                <a:latin typeface="Cambiria"/>
              </a:rPr>
              <a:t>Frontend:</a:t>
            </a:r>
            <a:br>
              <a:rPr lang="en-IN" sz="2400" dirty="0">
                <a:latin typeface="Cambiria"/>
              </a:rPr>
            </a:br>
            <a:r>
              <a:rPr lang="en-IN" sz="2400" dirty="0">
                <a:latin typeface="Cambiria"/>
              </a:rPr>
              <a:t>  – Frameworks/Languages: React.js, HTML5, CSS3, JavaScript</a:t>
            </a:r>
            <a:br>
              <a:rPr lang="en-IN" sz="2400" dirty="0">
                <a:latin typeface="Cambiria"/>
              </a:rPr>
            </a:br>
            <a:r>
              <a:rPr lang="en-IN" sz="2400" dirty="0">
                <a:latin typeface="Cambiria"/>
              </a:rPr>
              <a:t>  – UI/UX Tools: Figma / Adobe XD (for designing interfaces)</a:t>
            </a:r>
          </a:p>
          <a:p>
            <a:pPr marL="533400" lvl="1" indent="0">
              <a:buNone/>
            </a:pPr>
            <a:r>
              <a:rPr lang="en-IN" sz="2400" dirty="0">
                <a:latin typeface="Cambiria"/>
              </a:rPr>
              <a:t>Backend:</a:t>
            </a:r>
            <a:br>
              <a:rPr lang="en-IN" sz="2400" dirty="0">
                <a:latin typeface="Cambiria"/>
              </a:rPr>
            </a:br>
            <a:r>
              <a:rPr lang="en-IN" sz="2400" dirty="0">
                <a:latin typeface="Cambiria"/>
              </a:rPr>
              <a:t>  – Programming Language / Runtime: Node.js</a:t>
            </a:r>
            <a:br>
              <a:rPr lang="en-IN" sz="2400" dirty="0">
                <a:latin typeface="Cambiria"/>
              </a:rPr>
            </a:br>
            <a:r>
              <a:rPr lang="en-IN" sz="2400" dirty="0">
                <a:latin typeface="Cambiria"/>
              </a:rPr>
              <a:t>  – Framework: Express.js</a:t>
            </a:r>
            <a:br>
              <a:rPr lang="en-IN" sz="2400" dirty="0">
                <a:latin typeface="Cambiria"/>
              </a:rPr>
            </a:br>
            <a:r>
              <a:rPr lang="en-IN" sz="2400" dirty="0">
                <a:latin typeface="Cambiria"/>
              </a:rPr>
              <a:t>  – API Security:  HTTPS (SSL/TLS)</a:t>
            </a:r>
          </a:p>
          <a:p>
            <a:pPr marL="533400" lvl="1" indent="0">
              <a:buNone/>
            </a:pPr>
            <a:r>
              <a:rPr lang="en-IN" sz="2400" dirty="0">
                <a:latin typeface="Cambiria"/>
              </a:rPr>
              <a:t>Database:</a:t>
            </a:r>
            <a:br>
              <a:rPr lang="en-IN" sz="2400" dirty="0">
                <a:latin typeface="Cambiria"/>
              </a:rPr>
            </a:br>
            <a:r>
              <a:rPr lang="en-IN" sz="2400" dirty="0">
                <a:latin typeface="Cambiria"/>
              </a:rPr>
              <a:t>  – Cloud NoSQL Database: MongoDB Atlas</a:t>
            </a:r>
          </a:p>
          <a:p>
            <a:pPr marL="533400" lvl="1" indent="0">
              <a:buNone/>
            </a:pPr>
            <a:r>
              <a:rPr lang="en-IN" sz="2400" dirty="0">
                <a:latin typeface="Cambiria"/>
              </a:rPr>
              <a:t>Tools / DevOps:</a:t>
            </a:r>
            <a:br>
              <a:rPr lang="en-IN" sz="2400" dirty="0">
                <a:latin typeface="Cambiria"/>
              </a:rPr>
            </a:br>
            <a:r>
              <a:rPr lang="en-IN" sz="2400" dirty="0">
                <a:latin typeface="Cambiria"/>
              </a:rPr>
              <a:t>  – Version Control: Git, GitHub</a:t>
            </a:r>
            <a:br>
              <a:rPr lang="en-IN" sz="2400" dirty="0">
                <a:latin typeface="Cambiria"/>
              </a:rPr>
            </a:br>
            <a:r>
              <a:rPr lang="en-IN" sz="2400" dirty="0">
                <a:latin typeface="Cambiria"/>
              </a:rPr>
              <a:t>  – API </a:t>
            </a:r>
            <a:r>
              <a:rPr lang="en-IN" sz="2400" dirty="0" err="1">
                <a:latin typeface="Cambiria"/>
              </a:rPr>
              <a:t>Testing:Postman</a:t>
            </a:r>
            <a:endParaRPr lang="en-IN" sz="2400" dirty="0">
              <a:latin typeface="Cambiria"/>
            </a:endParaRP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B34C7-4E0F-E6E3-81CD-4C56EFFF7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464" y="700549"/>
            <a:ext cx="10668000" cy="4953000"/>
          </a:xfrm>
        </p:spPr>
        <p:txBody>
          <a:bodyPr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IN" sz="2200" b="1" dirty="0">
                <a:latin typeface="Cambiria"/>
              </a:rPr>
              <a:t>2. Hardware Requirements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200" dirty="0">
                <a:latin typeface="Cambiria"/>
              </a:rPr>
              <a:t>Development Machine:</a:t>
            </a:r>
            <a:br>
              <a:rPr lang="en-IN" sz="2200" dirty="0">
                <a:latin typeface="Cambiria"/>
              </a:rPr>
            </a:br>
            <a:r>
              <a:rPr lang="en-IN" sz="2200" dirty="0">
                <a:latin typeface="Cambiria"/>
              </a:rPr>
              <a:t>  – Processor: Intel i3 / </a:t>
            </a:r>
            <a:r>
              <a:rPr lang="en-IN" sz="2200" dirty="0" err="1">
                <a:latin typeface="Cambiria"/>
              </a:rPr>
              <a:t>Ryzen</a:t>
            </a:r>
            <a:r>
              <a:rPr lang="en-IN" sz="2200" dirty="0">
                <a:latin typeface="Cambiria"/>
              </a:rPr>
              <a:t> 3 or higher</a:t>
            </a:r>
            <a:br>
              <a:rPr lang="en-IN" sz="2200" dirty="0">
                <a:latin typeface="Cambiria"/>
              </a:rPr>
            </a:br>
            <a:r>
              <a:rPr lang="en-IN" sz="2200" dirty="0">
                <a:latin typeface="Cambiria"/>
              </a:rPr>
              <a:t>  – RAM: Minimum 8 GB (recommended 16 GB for 3D assets)</a:t>
            </a:r>
            <a:br>
              <a:rPr lang="en-IN" sz="2200" dirty="0">
                <a:latin typeface="Cambiria"/>
              </a:rPr>
            </a:br>
            <a:r>
              <a:rPr lang="en-IN" sz="2200" dirty="0">
                <a:latin typeface="Cambiria"/>
              </a:rPr>
              <a:t>  – Storage: Minimum 15 GB free (SSD preferred)</a:t>
            </a:r>
            <a:br>
              <a:rPr lang="en-IN" sz="2200" dirty="0">
                <a:latin typeface="Cambiria"/>
              </a:rPr>
            </a:br>
            <a:r>
              <a:rPr lang="en-IN" sz="2200" dirty="0">
                <a:latin typeface="Cambiria"/>
              </a:rPr>
              <a:t>  – Internet: Stable connection for cloud DB and deployment access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200" dirty="0">
                <a:latin typeface="Cambiria"/>
              </a:rPr>
              <a:t> End Users:</a:t>
            </a:r>
            <a:br>
              <a:rPr lang="en-IN" sz="2200" dirty="0">
                <a:latin typeface="Cambiria"/>
              </a:rPr>
            </a:br>
            <a:r>
              <a:rPr lang="en-IN" sz="2200" dirty="0">
                <a:latin typeface="Cambiria"/>
              </a:rPr>
              <a:t>  – Desktop / Laptop / Smartphone</a:t>
            </a:r>
            <a:br>
              <a:rPr lang="en-IN" sz="2200" dirty="0">
                <a:latin typeface="Cambiria"/>
              </a:rPr>
            </a:br>
            <a:r>
              <a:rPr lang="en-IN" sz="2200" dirty="0">
                <a:latin typeface="Cambiria"/>
              </a:rPr>
              <a:t>  – Modern web browser (Chrome / Edge)</a:t>
            </a:r>
            <a:br>
              <a:rPr lang="en-IN" sz="2200" dirty="0">
                <a:latin typeface="Cambiria"/>
              </a:rPr>
            </a:br>
            <a:r>
              <a:rPr lang="en-IN" sz="2200" dirty="0">
                <a:latin typeface="Cambiria"/>
              </a:rPr>
              <a:t>  – Internet connection to access the virtual garden web application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endParaRPr lang="en-IN" sz="2200" dirty="0">
              <a:latin typeface="Cambiria"/>
              <a:ea typeface="Cambria" panose="02040503050406030204" pitchFamily="18" charset="0"/>
            </a:endParaRP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37917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  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https://github.com/virtualherbalgarden4-bot/virtual-herbal-garden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Timeline (Gantt Chart)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66" y="1069643"/>
            <a:ext cx="11296867" cy="471871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834513"/>
            <a:ext cx="10668000" cy="4953000"/>
          </a:xfrm>
        </p:spPr>
        <p:txBody>
          <a:bodyPr>
            <a:noAutofit/>
          </a:bodyPr>
          <a:lstStyle/>
          <a:p>
            <a:pPr marL="76200" indent="0" algn="just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REFERENCE BOOKS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book 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Gallery of Medicinal Plants (</a:t>
            </a:r>
            <a:r>
              <a:rPr lang="en-US" sz="2000" i="1" dirty="0" err="1">
                <a:latin typeface="Cambria" panose="02040503050406030204" pitchFamily="18" charset="0"/>
                <a:ea typeface="Cambria" panose="02040503050406030204" pitchFamily="18" charset="0"/>
              </a:rPr>
              <a:t>Dravyaguna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 Vigyan)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was authored by Monika Sharma and Subash Sahu in 2022, published by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Chaukhambha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and it can be accessed on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Google Books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World Herbal Encyclopedia (WHE)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was prepared under the guidance of Acharya Balkrishna at the Patanjali Research Foundation in Haridwar around 2023, and more details are available on the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Patanjali Research Foundation website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article 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ARVeda: AI and augmented reality based herbal knowledge preservation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was authored by P.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Panche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A. Patil, and S.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Kharade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and published in the 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Advanced Computer Engineering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; it can be found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here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paper 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Herb Quest: Digital Vault of Medicinal Plants used in AYUSH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was written by M. Prabu, R. Kumar, and A. Sharma, published in the </a:t>
            </a:r>
            <a:r>
              <a:rPr lang="en-US" sz="2000" i="1" dirty="0" err="1">
                <a:latin typeface="Cambria" panose="02040503050406030204" pitchFamily="18" charset="0"/>
                <a:ea typeface="Cambria" panose="02040503050406030204" pitchFamily="18" charset="0"/>
              </a:rPr>
              <a:t>IvySci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 Journal of Innovative Research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in 2025, and is available through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iManager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 Publications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study 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Traditional herbal knowledge in </a:t>
            </a:r>
            <a:r>
              <a:rPr lang="en-US" sz="2000" i="1" dirty="0" err="1">
                <a:latin typeface="Cambria" panose="02040503050406030204" pitchFamily="18" charset="0"/>
                <a:ea typeface="Cambria" panose="02040503050406030204" pitchFamily="18" charset="0"/>
              </a:rPr>
              <a:t>Urgam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 Valley, Uttarakhand: An ethnobotanical study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was authored by R. Singh, D. Rawat, and M. Joshi, and published in the 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Journal of Ethnobiology and Ethnomedicine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; a closely related version of this work can be accessed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here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8B2C-C6DA-3864-29C8-323564469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385CE-9F1F-E46A-91AC-402609750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867698"/>
            <a:ext cx="10668000" cy="4953000"/>
          </a:xfrm>
        </p:spPr>
        <p:txBody>
          <a:bodyPr>
            <a:noAutofit/>
          </a:bodyPr>
          <a:lstStyle/>
          <a:p>
            <a:pPr marL="76200" indent="0">
              <a:buNone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REFERENCE WEBSITES</a:t>
            </a: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Government of India, “Traditional Knowledge Digital Library (TKDL),” [Online]. Available: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https://share.google/HoyCCmKZCRoHYfiya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AYUSH Research Portal, Ministry of AYUSH, Govt. of India, [Online]. Available: 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IN" sz="2200" u="sng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https://dx.doi.org/10.48175/ijarsct-23945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Engineers Planet, “Virtual Herbal Garden for AYUSH – Project Abstract,” [Online]. Available: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https://engineersplanet.com/abstracts/virtual-herbal-garden-for-ayush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Devfolio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“Virtual Herbal Garden Project,” [Online]. Available: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https://devfolio.co/projects/virtual-herbal-garden-510e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Abarajitha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et al., “AYUSH–SIH Project: Interactive Virtual Herbal Garden,” GitHub Repository, 2023. [Online]. Available: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https://github.com/Abarajitha123/AYUSH--SIH-Project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96821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1DDB871361914C92E59AEC9AD0EF2A" ma:contentTypeVersion="6" ma:contentTypeDescription="Create a new document." ma:contentTypeScope="" ma:versionID="3b1bea0dde8aae405d0d05c1154a0ea0">
  <xsd:schema xmlns:xsd="http://www.w3.org/2001/XMLSchema" xmlns:xs="http://www.w3.org/2001/XMLSchema" xmlns:p="http://schemas.microsoft.com/office/2006/metadata/properties" xmlns:ns3="d450f434-8884-451b-956f-1819749fd748" targetNamespace="http://schemas.microsoft.com/office/2006/metadata/properties" ma:root="true" ma:fieldsID="8df2596337e672d37d0465f74a607f36" ns3:_="">
    <xsd:import namespace="d450f434-8884-451b-956f-1819749fd74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50f434-8884-451b-956f-1819749fd7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450f434-8884-451b-956f-1819749fd748" xsi:nil="true"/>
  </documentManagement>
</p:properties>
</file>

<file path=customXml/itemProps1.xml><?xml version="1.0" encoding="utf-8"?>
<ds:datastoreItem xmlns:ds="http://schemas.openxmlformats.org/officeDocument/2006/customXml" ds:itemID="{74AAAF38-9C2C-4AD0-9175-44CB2EE4C09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3BDF88-B1DC-42FD-985B-A848637762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50f434-8884-451b-956f-1819749fd7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F6D1947-F20F-46DB-BEBF-D6778F53813A}">
  <ds:schemaRefs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d450f434-8884-451b-956f-1819749fd748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1669</TotalTime>
  <Words>1084</Words>
  <Application>Microsoft Office PowerPoint</Application>
  <PresentationFormat>Widescreen</PresentationFormat>
  <Paragraphs>171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Arial Unicode MS</vt:lpstr>
      <vt:lpstr>Bookman Old Style</vt:lpstr>
      <vt:lpstr>Calibri</vt:lpstr>
      <vt:lpstr>Cambiria</vt:lpstr>
      <vt:lpstr>Cambria</vt:lpstr>
      <vt:lpstr>Verdana</vt:lpstr>
      <vt:lpstr>Wingdings</vt:lpstr>
      <vt:lpstr>Bioinformatics</vt:lpstr>
      <vt:lpstr>VIRTUAL HERBAL GARDEN</vt:lpstr>
      <vt:lpstr>Content</vt:lpstr>
      <vt:lpstr>Abstract</vt:lpstr>
      <vt:lpstr>Objectives</vt:lpstr>
      <vt:lpstr>ALGORITHM DETAILS</vt:lpstr>
      <vt:lpstr>Pseudo-code</vt:lpstr>
      <vt:lpstr>ALGORITHM DETAILS</vt:lpstr>
      <vt:lpstr>Pseudo-code</vt:lpstr>
      <vt:lpstr>ALGORITHM DETAILS</vt:lpstr>
      <vt:lpstr>Pseudo-code</vt:lpstr>
      <vt:lpstr>Source code details</vt:lpstr>
      <vt:lpstr>Modules</vt:lpstr>
      <vt:lpstr>Code implementation</vt:lpstr>
      <vt:lpstr>Code implementation</vt:lpstr>
      <vt:lpstr>Existing Methods and Drawbacks</vt:lpstr>
      <vt:lpstr>Proposed Method &amp; Feasibility Study</vt:lpstr>
      <vt:lpstr>Architecture Diagram</vt:lpstr>
      <vt:lpstr>Hardware and Software Details</vt:lpstr>
      <vt:lpstr>PowerPoint Presentation</vt:lpstr>
      <vt:lpstr>Github Link</vt:lpstr>
      <vt:lpstr>Timeline (Gantt Chart)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Sweety</cp:lastModifiedBy>
  <cp:revision>64</cp:revision>
  <dcterms:modified xsi:type="dcterms:W3CDTF">2025-09-29T08:43:13Z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0x010100881DDB871361914C92E59AEC9AD0EF2A</vt:lpwstr>
  </property>
</Properties>
</file>