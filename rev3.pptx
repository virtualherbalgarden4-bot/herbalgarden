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20"/>
  </p:notesMasterIdLst>
  <p:sldIdLst>
    <p:sldId id="256" r:id="rId5"/>
    <p:sldId id="25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68" r:id="rId15"/>
    <p:sldId id="286" r:id="rId16"/>
    <p:sldId id="287" r:id="rId17"/>
    <p:sldId id="288" r:id="rId18"/>
    <p:sldId id="26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0BF7CE-FB49-4CC7-88A9-E16CB8F7C499}" v="63" dt="2025-08-19T17:19:35.048"/>
  </p1510:revLst>
</p1510:revInfo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6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1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rtualherbalgarden4-bot/virtual-herbal-garden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x.doi.org/10.48175/ijarsct-23945" TargetMode="External"/><Relationship Id="rId2" Type="http://schemas.openxmlformats.org/officeDocument/2006/relationships/hyperlink" Target="https://share.google/HoyCCmKZCRoHYfiy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Abarajitha123/AYUSH--SIH-Project?utm_source=chatgpt.com" TargetMode="External"/><Relationship Id="rId5" Type="http://schemas.openxmlformats.org/officeDocument/2006/relationships/hyperlink" Target="https://devfolio.co/projects/virtual-herbal-garden-510e?utm_source=chatgpt.com" TargetMode="External"/><Relationship Id="rId4" Type="http://schemas.openxmlformats.org/officeDocument/2006/relationships/hyperlink" Target="https://engineersplanet.com/abstracts/virtual-herbal-garden-for-ayush?utm_source=chatgpt.com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2400" dirty="0"/>
              <a:t>Conversational Image Recognition Chatbot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CSG_4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IN" sz="17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Mr. </a:t>
            </a:r>
            <a:r>
              <a:rPr lang="en-IN" sz="1700" b="1" dirty="0" err="1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Arunkumar</a:t>
            </a:r>
            <a:r>
              <a:rPr lang="en-IN" sz="17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K. </a:t>
            </a:r>
            <a:r>
              <a:rPr lang="en-IN" sz="1700" b="1" dirty="0" err="1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Bhavikatti</a:t>
            </a:r>
            <a:endParaRPr sz="1700" b="1" dirty="0">
              <a:solidFill>
                <a:schemeClr val="bg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Review-2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285135" y="4632222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Computer Science Engineering (Internet of things)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18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</a:t>
            </a:r>
            <a:r>
              <a:rPr lang="en-IN" sz="1800" dirty="0">
                <a:solidFill>
                  <a:srgbClr val="FF0000"/>
                </a:solidFill>
              </a:rPr>
              <a:t>Dr. Anandaraj S.P 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IN" sz="1800" dirty="0">
                <a:solidFill>
                  <a:srgbClr val="FF0000"/>
                </a:solidFill>
              </a:rPr>
              <a:t>Dr. </a:t>
            </a:r>
            <a:r>
              <a:rPr lang="en-IN" sz="1800" dirty="0" err="1">
                <a:solidFill>
                  <a:srgbClr val="FF0000"/>
                </a:solidFill>
              </a:rPr>
              <a:t>Sharmasth</a:t>
            </a:r>
            <a:r>
              <a:rPr lang="en-IN" sz="1800" dirty="0">
                <a:solidFill>
                  <a:srgbClr val="FF0000"/>
                </a:solidFill>
              </a:rPr>
              <a:t> Vali 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1C0FD79-500C-DD53-BFEA-5587EEBDB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086247"/>
              </p:ext>
            </p:extLst>
          </p:nvPr>
        </p:nvGraphicFramePr>
        <p:xfrm>
          <a:off x="871056" y="2769117"/>
          <a:ext cx="4889910" cy="1691640"/>
        </p:xfrm>
        <a:graphic>
          <a:graphicData uri="http://schemas.openxmlformats.org/drawingml/2006/table">
            <a:tbl>
              <a:tblPr firstRow="1" bandRow="1"/>
              <a:tblGrid>
                <a:gridCol w="2444955">
                  <a:extLst>
                    <a:ext uri="{9D8B030D-6E8A-4147-A177-3AD203B41FA5}">
                      <a16:colId xmlns:a16="http://schemas.microsoft.com/office/drawing/2014/main" val="356949612"/>
                    </a:ext>
                  </a:extLst>
                </a:gridCol>
                <a:gridCol w="2444955">
                  <a:extLst>
                    <a:ext uri="{9D8B030D-6E8A-4147-A177-3AD203B41FA5}">
                      <a16:colId xmlns:a16="http://schemas.microsoft.com/office/drawing/2014/main" val="1221776954"/>
                    </a:ext>
                  </a:extLst>
                </a:gridCol>
              </a:tblGrid>
              <a:tr h="3541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  <a:latin typeface="Bookman Old Style" panose="02050604050505020204" pitchFamily="18" charset="0"/>
                        </a:rPr>
                        <a:t>Roll Number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  <a:latin typeface="Bookman Old Style" panose="02050604050505020204" pitchFamily="18" charset="0"/>
                        </a:rPr>
                        <a:t>Student Name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181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20221CIT0124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SAISHREE</a:t>
                      </a:r>
                      <a:r>
                        <a:rPr lang="en-IN" baseline="0" dirty="0"/>
                        <a:t> 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1305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20221CIT0126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SHREYA</a:t>
                      </a:r>
                      <a:r>
                        <a:rPr lang="en-IN" baseline="0" dirty="0"/>
                        <a:t> A J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834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20221CIT0130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NITHYA</a:t>
                      </a:r>
                      <a:r>
                        <a:rPr lang="en-IN" baseline="0" dirty="0"/>
                        <a:t> H 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27147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32465" y="205812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567291" y="1102479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Existing Methods and Drawbacks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Proposed Method &amp; Feasibility Study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Modules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Hardware and Software Details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Link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Timeline (Gantt Chart)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Virtual Herbal Garden is a web-based project designed to create an interactive and educational platform showcasing medicinal plants from AYUSH systems (Ayurveda, Yoga &amp; Naturopathy, Unani, Siddha, Homeopathy).</a:t>
            </a:r>
          </a:p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Built with a React frontend, Node.js backend, and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MongoDB Atlas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database, it offers features like plant search, categorization, image-based identification, and AR/3D visualization.</a:t>
            </a:r>
          </a:p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project bridges traditional knowledge with digital tools, raising awareness, accessibility, and conservation of medicinal plants, while providing scope for future integration in healthcare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education.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999" y="43387"/>
            <a:ext cx="10668000" cy="487500"/>
          </a:xfrm>
        </p:spPr>
        <p:txBody>
          <a:bodyPr/>
          <a:lstStyle/>
          <a:p>
            <a:r>
              <a:rPr dirty="0"/>
              <a:t>Literature Survey</a:t>
            </a:r>
          </a:p>
        </p:txBody>
      </p:sp>
      <p:pic>
        <p:nvPicPr>
          <p:cNvPr id="4" name="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9" y="530887"/>
            <a:ext cx="10668000" cy="58564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Build an interactive Virtual Herbal Garden showcasing medicinal plants from AYUSH systems (Ayurveda, Yoga, Unani, Siddha, Homeopathy).</a:t>
            </a:r>
          </a:p>
          <a:p>
            <a:pPr algn="just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Provide plant search &amp; filtering by medicinal use, region, and system of medicine.</a:t>
            </a:r>
          </a:p>
          <a:p>
            <a:pPr algn="just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Integrate multimedia elements (images, videos, 3D/AR models) for immersive learning.</a:t>
            </a:r>
          </a:p>
          <a:p>
            <a:pPr algn="just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Support user-friendly accessibility with multilingual content (English + Indian languages).</a:t>
            </a:r>
          </a:p>
          <a:p>
            <a:pPr algn="just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Deploy a scalable, web-based system using React (frontend), Node.js/Express (backend), and MongoDB Atlas (database).</a:t>
            </a:r>
          </a:p>
          <a:p>
            <a:pPr algn="just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Enhance user engagement with quizzes, guided tours, and interactive plant identification.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Methods and Drawbacks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122420"/>
            <a:ext cx="106680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Traditional Herbal Gardens (Physical)</a:t>
            </a:r>
          </a:p>
          <a:p>
            <a:r>
              <a:rPr lang="en-US" sz="2000" dirty="0"/>
              <a:t>✅ Preserve plant biodiversity</a:t>
            </a:r>
          </a:p>
          <a:p>
            <a:r>
              <a:rPr lang="en-US" sz="2000" dirty="0"/>
              <a:t>❌ Limited reach, not interactive or accessible remotely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Digital Herbal Databases (IMPPAT, NMPB)</a:t>
            </a:r>
          </a:p>
          <a:p>
            <a:r>
              <a:rPr lang="en-US" sz="2000" dirty="0"/>
              <a:t>✅ Provide structured medicinal plant information</a:t>
            </a:r>
          </a:p>
          <a:p>
            <a:r>
              <a:rPr lang="en-US" sz="2000" dirty="0"/>
              <a:t>❌ Text-heavy, lack interactive features or visualization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Plant Identification Apps (</a:t>
            </a:r>
            <a:r>
              <a:rPr lang="en-US" sz="2000" b="1" dirty="0" err="1"/>
              <a:t>PlantSnap</a:t>
            </a:r>
            <a:r>
              <a:rPr lang="en-US" sz="2000" b="1" dirty="0"/>
              <a:t>, </a:t>
            </a:r>
            <a:r>
              <a:rPr lang="en-US" sz="2000" b="1" dirty="0" err="1"/>
              <a:t>LeafSnap</a:t>
            </a:r>
            <a:r>
              <a:rPr lang="en-US" sz="2000" b="1" dirty="0"/>
              <a:t>)</a:t>
            </a:r>
          </a:p>
          <a:p>
            <a:r>
              <a:rPr lang="en-US" sz="2000" dirty="0"/>
              <a:t>✅ Image recognition for plants</a:t>
            </a:r>
          </a:p>
          <a:p>
            <a:r>
              <a:rPr lang="en-US" sz="2000" dirty="0"/>
              <a:t>❌ General use, not AYUSH/medicinal plant-specific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AR/VR Educational Tools</a:t>
            </a:r>
          </a:p>
          <a:p>
            <a:r>
              <a:rPr lang="en-US" sz="2000" dirty="0"/>
              <a:t>✅ Immersive plant exploration</a:t>
            </a:r>
          </a:p>
          <a:p>
            <a:r>
              <a:rPr lang="en-US" sz="2000" dirty="0"/>
              <a:t>❌ Limited datasets, often commercial/non-medical focus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Gap Identified</a:t>
            </a:r>
          </a:p>
          <a:p>
            <a:r>
              <a:rPr lang="en-US" sz="2000" dirty="0"/>
              <a:t>❌ Few integrated systems combining AYUSH knowledge + interactive multimedia + accessibility.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Proposed Method &amp; Feasibility Study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Proposed Method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Build a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website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showcase medicinal plants with details, images, and search/filter options.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Provide multilingual support and easy navigation.</a:t>
            </a:r>
          </a:p>
          <a:p>
            <a:pPr marL="7620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Justification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Makes herbal knowledge accessible and engaging.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Helps students, researchers, and the public learn easily.</a:t>
            </a:r>
          </a:p>
          <a:p>
            <a:pPr marL="7620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Feasibility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Uses MERN stack (open-source, low cost).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Needs only basic cloud hosting, no heavy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resources.</a:t>
            </a:r>
          </a:p>
          <a:p>
            <a:pPr marL="76200" indent="0">
              <a:buNone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Architecture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04637D-EC3A-CBC4-E0C6-11FAF6FC7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6" y="1107665"/>
            <a:ext cx="11473543" cy="48253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Modules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D1400B4-CE58-8E52-A63B-07B864533E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427689"/>
              </p:ext>
            </p:extLst>
          </p:nvPr>
        </p:nvGraphicFramePr>
        <p:xfrm>
          <a:off x="812799" y="1083460"/>
          <a:ext cx="11007166" cy="4983586"/>
        </p:xfrm>
        <a:graphic>
          <a:graphicData uri="http://schemas.openxmlformats.org/drawingml/2006/table">
            <a:tbl>
              <a:tblPr firstRow="1" bandRow="1"/>
              <a:tblGrid>
                <a:gridCol w="3764852">
                  <a:extLst>
                    <a:ext uri="{9D8B030D-6E8A-4147-A177-3AD203B41FA5}">
                      <a16:colId xmlns:a16="http://schemas.microsoft.com/office/drawing/2014/main" val="1872565446"/>
                    </a:ext>
                  </a:extLst>
                </a:gridCol>
                <a:gridCol w="7242314">
                  <a:extLst>
                    <a:ext uri="{9D8B030D-6E8A-4147-A177-3AD203B41FA5}">
                      <a16:colId xmlns:a16="http://schemas.microsoft.com/office/drawing/2014/main" val="2337367072"/>
                    </a:ext>
                  </a:extLst>
                </a:gridCol>
              </a:tblGrid>
              <a:tr h="616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Module</a:t>
                      </a:r>
                    </a:p>
                    <a:p>
                      <a:pPr>
                        <a:buNone/>
                      </a:pP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Functionality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213420"/>
                  </a:ext>
                </a:extLst>
              </a:tr>
              <a:tr h="717231">
                <a:tc>
                  <a:txBody>
                    <a:bodyPr/>
                    <a:lstStyle/>
                    <a:p>
                      <a:r>
                        <a:rPr lang="en-IN" sz="1600" dirty="0"/>
                        <a:t>User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/>
                        <a:t>User login, registration, profile management, and personalized plant bookmarks..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344850"/>
                  </a:ext>
                </a:extLst>
              </a:tr>
              <a:tr h="717231">
                <a:tc>
                  <a:txBody>
                    <a:bodyPr/>
                    <a:lstStyle/>
                    <a:p>
                      <a:r>
                        <a:rPr lang="en-IN" sz="1600" dirty="0"/>
                        <a:t>Frontend Module (React)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/>
                        <a:t>Interactive UI, plant visualization, search/filter, and 3D/AR view integration.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335299"/>
                  </a:ext>
                </a:extLst>
              </a:tr>
              <a:tr h="1012562">
                <a:tc>
                  <a:txBody>
                    <a:bodyPr/>
                    <a:lstStyle/>
                    <a:p>
                      <a:r>
                        <a:rPr lang="en-US" sz="1600" dirty="0"/>
                        <a:t>Backend Module (Node.js + </a:t>
                      </a:r>
                      <a:r>
                        <a:rPr lang="en-US" sz="1600" dirty="0" smtClean="0"/>
                        <a:t>Express.js)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/>
                        <a:t>Handles APIs, authentication, CRUD operations for plant data.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293939"/>
                  </a:ext>
                </a:extLst>
              </a:tr>
              <a:tr h="1012562">
                <a:tc>
                  <a:txBody>
                    <a:bodyPr/>
                    <a:lstStyle/>
                    <a:p>
                      <a:r>
                        <a:rPr lang="en-US" sz="1600" dirty="0"/>
                        <a:t>Database Module (MongoDB Atlas)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Stores plant details, images, multimedia, and user data.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446821"/>
                  </a:ext>
                </a:extLst>
              </a:tr>
              <a:tr h="717231">
                <a:tc>
                  <a:txBody>
                    <a:bodyPr/>
                    <a:lstStyle/>
                    <a:p>
                      <a:r>
                        <a:rPr lang="en-US" sz="1600" dirty="0"/>
                        <a:t>Search &amp; Filter Module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Allows filtering by medicinal use, plant type, or region.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89879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Hardware and Software Details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F86DAFC-44A8-B192-6A75-F4A3A0F082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074104"/>
              </p:ext>
            </p:extLst>
          </p:nvPr>
        </p:nvGraphicFramePr>
        <p:xfrm>
          <a:off x="812800" y="1142999"/>
          <a:ext cx="11015405" cy="4336567"/>
        </p:xfrm>
        <a:graphic>
          <a:graphicData uri="http://schemas.openxmlformats.org/drawingml/2006/table">
            <a:tbl>
              <a:tblPr firstRow="1" bandRow="1"/>
              <a:tblGrid>
                <a:gridCol w="1894129">
                  <a:extLst>
                    <a:ext uri="{9D8B030D-6E8A-4147-A177-3AD203B41FA5}">
                      <a16:colId xmlns:a16="http://schemas.microsoft.com/office/drawing/2014/main" val="1617986882"/>
                    </a:ext>
                  </a:extLst>
                </a:gridCol>
                <a:gridCol w="4819239">
                  <a:extLst>
                    <a:ext uri="{9D8B030D-6E8A-4147-A177-3AD203B41FA5}">
                      <a16:colId xmlns:a16="http://schemas.microsoft.com/office/drawing/2014/main" val="396071727"/>
                    </a:ext>
                  </a:extLst>
                </a:gridCol>
                <a:gridCol w="4302037">
                  <a:extLst>
                    <a:ext uri="{9D8B030D-6E8A-4147-A177-3AD203B41FA5}">
                      <a16:colId xmlns:a16="http://schemas.microsoft.com/office/drawing/2014/main" val="1402515954"/>
                    </a:ext>
                  </a:extLst>
                </a:gridCol>
              </a:tblGrid>
              <a:tr h="694426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Area</a:t>
                      </a:r>
                    </a:p>
                    <a:p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Technology / Tools</a:t>
                      </a:r>
                    </a:p>
                    <a:p>
                      <a:pPr>
                        <a:buNone/>
                      </a:pP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Purpose / 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893848"/>
                  </a:ext>
                </a:extLst>
              </a:tr>
              <a:tr h="694426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React.js, HTML, CSS</a:t>
                      </a: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Build responsive UI, plant models, and interactive visuals.</a:t>
                      </a: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299859"/>
                  </a:ext>
                </a:extLst>
              </a:tr>
              <a:tr h="980367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Node.js, Express.js</a:t>
                      </a: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API creation, server logic, and handling database queries.</a:t>
                      </a: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093204"/>
                  </a:ext>
                </a:extLst>
              </a:tr>
              <a:tr h="980367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MongoDB Atlas (Cloud DB)</a:t>
                      </a: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Persistent storage of plant information, images, and user details.</a:t>
                      </a: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6831937"/>
                  </a:ext>
                </a:extLst>
              </a:tr>
              <a:tr h="980367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Hardware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Basic server/PC with internet</a:t>
                      </a: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Suitable for hosting frontend/backend; no high GPU required.</a:t>
                      </a: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7202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Link  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https://github.com/virtualherbalgarden4-bot/virtual-herbal-garden 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Timeline (Gantt Chart)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66" y="1069643"/>
            <a:ext cx="11296867" cy="471871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M. Sharma and S. </a:t>
            </a: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Sahu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200" i="1" dirty="0">
                <a:latin typeface="Cambria" panose="02040503050406030204" pitchFamily="18" charset="0"/>
                <a:ea typeface="Cambria" panose="02040503050406030204" pitchFamily="18" charset="0"/>
              </a:rPr>
              <a:t>Gallery of Medicinal Plants (</a:t>
            </a:r>
            <a:r>
              <a:rPr lang="en-US" sz="2200" i="1" dirty="0" err="1">
                <a:latin typeface="Cambria" panose="02040503050406030204" pitchFamily="18" charset="0"/>
                <a:ea typeface="Cambria" panose="02040503050406030204" pitchFamily="18" charset="0"/>
              </a:rPr>
              <a:t>Dravyaguna</a:t>
            </a:r>
            <a:r>
              <a:rPr lang="en-US" sz="22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200" i="1" dirty="0" err="1">
                <a:latin typeface="Cambria" panose="02040503050406030204" pitchFamily="18" charset="0"/>
                <a:ea typeface="Cambria" panose="02040503050406030204" pitchFamily="18" charset="0"/>
              </a:rPr>
              <a:t>Vigyan</a:t>
            </a:r>
            <a:r>
              <a:rPr lang="en-US" sz="2200" i="1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, Delhi: </a:t>
            </a: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Chaukhambha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, 2022.</a:t>
            </a:r>
          </a:p>
          <a:p>
            <a:pPr algn="just"/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A. </a:t>
            </a: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Balkrishna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200" i="1" dirty="0">
                <a:latin typeface="Cambria" panose="02040503050406030204" pitchFamily="18" charset="0"/>
                <a:ea typeface="Cambria" panose="02040503050406030204" pitchFamily="18" charset="0"/>
              </a:rPr>
              <a:t>World Herbal Encyclopedia (WHE)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Patanjali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Research Foundation, </a:t>
            </a: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Haridwar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, 2023.</a:t>
            </a:r>
          </a:p>
          <a:p>
            <a:pPr algn="just"/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P. </a:t>
            </a: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Panche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, A. </a:t>
            </a: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Patil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, and S. </a:t>
            </a: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Kharade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, “</a:t>
            </a: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ARVeda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: AI and augmented reality based herbal knowledge preservation,” </a:t>
            </a:r>
            <a:r>
              <a:rPr lang="en-US" sz="2200" i="1" dirty="0">
                <a:latin typeface="Cambria" panose="02040503050406030204" pitchFamily="18" charset="0"/>
                <a:ea typeface="Cambria" panose="02040503050406030204" pitchFamily="18" charset="0"/>
              </a:rPr>
              <a:t>Int. J. Adv. </a:t>
            </a:r>
            <a:r>
              <a:rPr lang="en-US" sz="2200" i="1" dirty="0" err="1">
                <a:latin typeface="Cambria" panose="02040503050406030204" pitchFamily="18" charset="0"/>
                <a:ea typeface="Cambria" panose="02040503050406030204" pitchFamily="18" charset="0"/>
              </a:rPr>
              <a:t>Comput</a:t>
            </a:r>
            <a:r>
              <a:rPr lang="en-US" sz="2200" i="1" dirty="0">
                <a:latin typeface="Cambria" panose="02040503050406030204" pitchFamily="18" charset="0"/>
                <a:ea typeface="Cambria" panose="02040503050406030204" pitchFamily="18" charset="0"/>
              </a:rPr>
              <a:t>. Eng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M. </a:t>
            </a: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Prabu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, R. Kumar, and A. Sharma, “Herb Quest: Digital vault of medicinal plants used in AYUSH,” </a:t>
            </a:r>
            <a:r>
              <a:rPr lang="en-US" sz="2200" i="1" dirty="0" err="1">
                <a:latin typeface="Cambria" panose="02040503050406030204" pitchFamily="18" charset="0"/>
                <a:ea typeface="Cambria" panose="02040503050406030204" pitchFamily="18" charset="0"/>
              </a:rPr>
              <a:t>IvySci</a:t>
            </a:r>
            <a:r>
              <a:rPr lang="en-US" sz="2200" i="1" dirty="0">
                <a:latin typeface="Cambria" panose="02040503050406030204" pitchFamily="18" charset="0"/>
                <a:ea typeface="Cambria" panose="02040503050406030204" pitchFamily="18" charset="0"/>
              </a:rPr>
              <a:t> Journal of Innovative Research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R. Singh, D. </a:t>
            </a: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Rawat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, and M. Joshi, “Traditional herbal knowledge in </a:t>
            </a: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Urgam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Valley, </a:t>
            </a: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Uttarakhand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: An ethnobotanical study,” </a:t>
            </a:r>
            <a:r>
              <a:rPr lang="en-US" sz="2200" i="1" dirty="0">
                <a:latin typeface="Cambria" panose="02040503050406030204" pitchFamily="18" charset="0"/>
                <a:ea typeface="Cambria" panose="02040503050406030204" pitchFamily="18" charset="0"/>
              </a:rPr>
              <a:t>J. </a:t>
            </a:r>
            <a:r>
              <a:rPr lang="en-US" sz="2200" i="1" dirty="0" err="1">
                <a:latin typeface="Cambria" panose="02040503050406030204" pitchFamily="18" charset="0"/>
                <a:ea typeface="Cambria" panose="02040503050406030204" pitchFamily="18" charset="0"/>
              </a:rPr>
              <a:t>Ethnobiol</a:t>
            </a:r>
            <a:r>
              <a:rPr lang="en-US" sz="2200" i="1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sz="2200" i="1" dirty="0" err="1">
                <a:latin typeface="Cambria" panose="02040503050406030204" pitchFamily="18" charset="0"/>
                <a:ea typeface="Cambria" panose="02040503050406030204" pitchFamily="18" charset="0"/>
              </a:rPr>
              <a:t>Ethnomed</a:t>
            </a:r>
            <a:r>
              <a:rPr lang="en-US" sz="2200" i="1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IN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58B2C-C6DA-3864-29C8-323564469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8385CE-9F1F-E46A-91AC-402609750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867698"/>
            <a:ext cx="10668000" cy="4953000"/>
          </a:xfrm>
        </p:spPr>
        <p:txBody>
          <a:bodyPr>
            <a:no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Government of India, “Traditional Knowledge Digital Library (TKDL),” [Online]. Available: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https://share.google/HoyCCmKZCRoHYfiya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AYUSH Research Portal, Ministry of AYUSH, Govt. of India, [Online]. Available: </a:t>
            </a:r>
            <a:r>
              <a:rPr lang="en-IN" dirty="0"/>
              <a:t> </a:t>
            </a:r>
            <a:r>
              <a:rPr lang="en-IN" sz="2000" u="sng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https://dx.doi.org/10.48175/ijarsct-23945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Engineers Planet, “Virtual Herbal Garden for AYUSH – Project Abstract,” [Online]. Available: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https://engineersplanet.com/abstracts/virtual-herbal-garden-for-ayush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Devfolio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“Virtual Herbal Garden Project,” [Online]. Available: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5"/>
              </a:rPr>
              <a:t>https://devfolio.co/projects/virtual-herbal-garden-510e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Abarajitha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et al., “AYUSH–SIH Project: Interactive Virtual Herbal Garden,” GitHub Repository, 2023. [Online]. Available: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6"/>
              </a:rPr>
              <a:t>https://github.com/Abarajitha123/AYUSH--SIH-Project</a:t>
            </a:r>
            <a:r>
              <a:rPr lang="en-US" sz="200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821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81DDB871361914C92E59AEC9AD0EF2A" ma:contentTypeVersion="6" ma:contentTypeDescription="Create a new document." ma:contentTypeScope="" ma:versionID="3b1bea0dde8aae405d0d05c1154a0ea0">
  <xsd:schema xmlns:xsd="http://www.w3.org/2001/XMLSchema" xmlns:xs="http://www.w3.org/2001/XMLSchema" xmlns:p="http://schemas.microsoft.com/office/2006/metadata/properties" xmlns:ns3="d450f434-8884-451b-956f-1819749fd748" targetNamespace="http://schemas.microsoft.com/office/2006/metadata/properties" ma:root="true" ma:fieldsID="8df2596337e672d37d0465f74a607f36" ns3:_="">
    <xsd:import namespace="d450f434-8884-451b-956f-1819749fd74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50f434-8884-451b-956f-1819749fd7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450f434-8884-451b-956f-1819749fd748" xsi:nil="true"/>
  </documentManagement>
</p:properties>
</file>

<file path=customXml/itemProps1.xml><?xml version="1.0" encoding="utf-8"?>
<ds:datastoreItem xmlns:ds="http://schemas.openxmlformats.org/officeDocument/2006/customXml" ds:itemID="{74AAAF38-9C2C-4AD0-9175-44CB2EE4C09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13BDF88-B1DC-42FD-985B-A848637762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450f434-8884-451b-956f-1819749fd74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F6D1947-F20F-46DB-BEBF-D6778F53813A}">
  <ds:schemaRefs>
    <ds:schemaRef ds:uri="http://purl.org/dc/dcmitype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d450f434-8884-451b-956f-1819749fd748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1517</TotalTime>
  <Words>858</Words>
  <Application>Microsoft Office PowerPoint</Application>
  <PresentationFormat>Widescreen</PresentationFormat>
  <Paragraphs>129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Bookman Old Style</vt:lpstr>
      <vt:lpstr>Calibri</vt:lpstr>
      <vt:lpstr>Cambria</vt:lpstr>
      <vt:lpstr>Verdana</vt:lpstr>
      <vt:lpstr>Wingdings</vt:lpstr>
      <vt:lpstr>Bioinformatics</vt:lpstr>
      <vt:lpstr>Conversational Image Recognition Chatbot</vt:lpstr>
      <vt:lpstr>Content</vt:lpstr>
      <vt:lpstr>Abstract</vt:lpstr>
      <vt:lpstr>Literature Survey</vt:lpstr>
      <vt:lpstr>Objectives</vt:lpstr>
      <vt:lpstr>Existing Methods and Drawbacks</vt:lpstr>
      <vt:lpstr>Proposed Method &amp; Feasibility Study</vt:lpstr>
      <vt:lpstr>Architecture Diagram</vt:lpstr>
      <vt:lpstr>Modules</vt:lpstr>
      <vt:lpstr>Hardware and Software Details</vt:lpstr>
      <vt:lpstr>Github Link</vt:lpstr>
      <vt:lpstr>Timeline (Gantt Chart)</vt:lpstr>
      <vt:lpstr>References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Sweety</cp:lastModifiedBy>
  <cp:revision>57</cp:revision>
  <dcterms:modified xsi:type="dcterms:W3CDTF">2025-09-10T05:14:31Z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0x010100881DDB871361914C92E59AEC9AD0EF2A</vt:lpwstr>
  </property>
</Properties>
</file>