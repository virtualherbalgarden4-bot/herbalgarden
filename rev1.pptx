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9" r:id="rId3"/>
    <p:sldId id="257" r:id="rId4"/>
    <p:sldId id="274" r:id="rId5"/>
    <p:sldId id="275" r:id="rId6"/>
    <p:sldId id="273" r:id="rId7"/>
    <p:sldId id="272" r:id="rId8"/>
    <p:sldId id="271" r:id="rId9"/>
    <p:sldId id="268" r:id="rId10"/>
    <p:sldId id="270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8E3230-562A-491F-A973-FAD7AED3AB81}" v="20" dt="2025-08-19T18:29:06.931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 jayaram" userId="2ba9c64152b4927f" providerId="LiveId" clId="{3C8E3230-562A-491F-A973-FAD7AED3AB81}"/>
    <pc:docChg chg="undo custSel addSld modSld">
      <pc:chgData name="Shreya jayaram" userId="2ba9c64152b4927f" providerId="LiveId" clId="{3C8E3230-562A-491F-A973-FAD7AED3AB81}" dt="2025-08-19T18:35:38.803" v="171" actId="20577"/>
      <pc:docMkLst>
        <pc:docMk/>
      </pc:docMkLst>
      <pc:sldChg chg="modSp mod">
        <pc:chgData name="Shreya jayaram" userId="2ba9c64152b4927f" providerId="LiveId" clId="{3C8E3230-562A-491F-A973-FAD7AED3AB81}" dt="2025-08-19T18:33:23.891" v="152" actId="1076"/>
        <pc:sldMkLst>
          <pc:docMk/>
          <pc:sldMk cId="0" sldId="256"/>
        </pc:sldMkLst>
        <pc:spChg chg="mod">
          <ac:chgData name="Shreya jayaram" userId="2ba9c64152b4927f" providerId="LiveId" clId="{3C8E3230-562A-491F-A973-FAD7AED3AB81}" dt="2025-08-19T18:33:23.891" v="152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Shreya jayaram" userId="2ba9c64152b4927f" providerId="LiveId" clId="{3C8E3230-562A-491F-A973-FAD7AED3AB81}" dt="2025-08-19T18:33:15.590" v="151" actId="1076"/>
          <ac:spMkLst>
            <pc:docMk/>
            <pc:sldMk cId="0" sldId="256"/>
            <ac:spMk id="90" creationId="{00000000-0000-0000-0000-000000000000}"/>
          </ac:spMkLst>
        </pc:spChg>
        <pc:graphicFrameChg chg="mod modGraphic">
          <ac:chgData name="Shreya jayaram" userId="2ba9c64152b4927f" providerId="LiveId" clId="{3C8E3230-562A-491F-A973-FAD7AED3AB81}" dt="2025-08-19T18:33:05.677" v="150" actId="1076"/>
          <ac:graphicFrameMkLst>
            <pc:docMk/>
            <pc:sldMk cId="0" sldId="256"/>
            <ac:graphicFrameMk id="89" creationId="{00000000-0000-0000-0000-000000000000}"/>
          </ac:graphicFrameMkLst>
        </pc:graphicFrameChg>
      </pc:sldChg>
      <pc:sldChg chg="modSp mod">
        <pc:chgData name="Shreya jayaram" userId="2ba9c64152b4927f" providerId="LiveId" clId="{3C8E3230-562A-491F-A973-FAD7AED3AB81}" dt="2025-08-19T18:33:37.422" v="153" actId="20577"/>
        <pc:sldMkLst>
          <pc:docMk/>
          <pc:sldMk cId="0" sldId="257"/>
        </pc:sldMkLst>
        <pc:spChg chg="mod">
          <ac:chgData name="Shreya jayaram" userId="2ba9c64152b4927f" providerId="LiveId" clId="{3C8E3230-562A-491F-A973-FAD7AED3AB81}" dt="2025-08-19T18:33:37.422" v="153" actId="20577"/>
          <ac:spMkLst>
            <pc:docMk/>
            <pc:sldMk cId="0" sldId="257"/>
            <ac:spMk id="96" creationId="{00000000-0000-0000-0000-000000000000}"/>
          </ac:spMkLst>
        </pc:spChg>
        <pc:spChg chg="mod">
          <ac:chgData name="Shreya jayaram" userId="2ba9c64152b4927f" providerId="LiveId" clId="{3C8E3230-562A-491F-A973-FAD7AED3AB81}" dt="2025-08-19T18:29:30.455" v="119" actId="2710"/>
          <ac:spMkLst>
            <pc:docMk/>
            <pc:sldMk cId="0" sldId="257"/>
            <ac:spMk id="97" creationId="{00000000-0000-0000-0000-000000000000}"/>
          </ac:spMkLst>
        </pc:spChg>
      </pc:sldChg>
      <pc:sldChg chg="modSp mod">
        <pc:chgData name="Shreya jayaram" userId="2ba9c64152b4927f" providerId="LiveId" clId="{3C8E3230-562A-491F-A973-FAD7AED3AB81}" dt="2025-08-19T18:35:30.496" v="170" actId="20577"/>
        <pc:sldMkLst>
          <pc:docMk/>
          <pc:sldMk cId="2856357337" sldId="268"/>
        </pc:sldMkLst>
        <pc:spChg chg="mod">
          <ac:chgData name="Shreya jayaram" userId="2ba9c64152b4927f" providerId="LiveId" clId="{3C8E3230-562A-491F-A973-FAD7AED3AB81}" dt="2025-08-19T17:53:40.884" v="0"/>
          <ac:spMkLst>
            <pc:docMk/>
            <pc:sldMk cId="2856357337" sldId="268"/>
            <ac:spMk id="5" creationId="{00000000-0000-0000-0000-000000000000}"/>
          </ac:spMkLst>
        </pc:spChg>
        <pc:spChg chg="mod">
          <ac:chgData name="Shreya jayaram" userId="2ba9c64152b4927f" providerId="LiveId" clId="{3C8E3230-562A-491F-A973-FAD7AED3AB81}" dt="2025-08-19T18:35:30.496" v="170" actId="20577"/>
          <ac:spMkLst>
            <pc:docMk/>
            <pc:sldMk cId="2856357337" sldId="268"/>
            <ac:spMk id="114" creationId="{00000000-0000-0000-0000-000000000000}"/>
          </ac:spMkLst>
        </pc:spChg>
      </pc:sldChg>
      <pc:sldChg chg="modSp mod">
        <pc:chgData name="Shreya jayaram" userId="2ba9c64152b4927f" providerId="LiveId" clId="{3C8E3230-562A-491F-A973-FAD7AED3AB81}" dt="2025-08-19T18:29:40.016" v="121" actId="2710"/>
        <pc:sldMkLst>
          <pc:docMk/>
          <pc:sldMk cId="2143451837" sldId="269"/>
        </pc:sldMkLst>
        <pc:spChg chg="mod">
          <ac:chgData name="Shreya jayaram" userId="2ba9c64152b4927f" providerId="LiveId" clId="{3C8E3230-562A-491F-A973-FAD7AED3AB81}" dt="2025-08-19T18:04:56.031" v="9" actId="20577"/>
          <ac:spMkLst>
            <pc:docMk/>
            <pc:sldMk cId="2143451837" sldId="269"/>
            <ac:spMk id="96" creationId="{00000000-0000-0000-0000-000000000000}"/>
          </ac:spMkLst>
        </pc:spChg>
        <pc:spChg chg="mod">
          <ac:chgData name="Shreya jayaram" userId="2ba9c64152b4927f" providerId="LiveId" clId="{3C8E3230-562A-491F-A973-FAD7AED3AB81}" dt="2025-08-19T18:29:40.016" v="121" actId="2710"/>
          <ac:spMkLst>
            <pc:docMk/>
            <pc:sldMk cId="2143451837" sldId="269"/>
            <ac:spMk id="97" creationId="{00000000-0000-0000-0000-000000000000}"/>
          </ac:spMkLst>
        </pc:spChg>
      </pc:sldChg>
      <pc:sldChg chg="modSp mod">
        <pc:chgData name="Shreya jayaram" userId="2ba9c64152b4927f" providerId="LiveId" clId="{3C8E3230-562A-491F-A973-FAD7AED3AB81}" dt="2025-08-19T18:35:38.803" v="171" actId="20577"/>
        <pc:sldMkLst>
          <pc:docMk/>
          <pc:sldMk cId="479890276" sldId="270"/>
        </pc:sldMkLst>
        <pc:spChg chg="mod">
          <ac:chgData name="Shreya jayaram" userId="2ba9c64152b4927f" providerId="LiveId" clId="{3C8E3230-562A-491F-A973-FAD7AED3AB81}" dt="2025-08-19T18:35:38.803" v="171" actId="20577"/>
          <ac:spMkLst>
            <pc:docMk/>
            <pc:sldMk cId="479890276" sldId="270"/>
            <ac:spMk id="114" creationId="{00000000-0000-0000-0000-000000000000}"/>
          </ac:spMkLst>
        </pc:spChg>
      </pc:sldChg>
      <pc:sldChg chg="modSp mod">
        <pc:chgData name="Shreya jayaram" userId="2ba9c64152b4927f" providerId="LiveId" clId="{3C8E3230-562A-491F-A973-FAD7AED3AB81}" dt="2025-08-19T18:35:16.854" v="169" actId="255"/>
        <pc:sldMkLst>
          <pc:docMk/>
          <pc:sldMk cId="2000455742" sldId="271"/>
        </pc:sldMkLst>
        <pc:spChg chg="mod">
          <ac:chgData name="Shreya jayaram" userId="2ba9c64152b4927f" providerId="LiveId" clId="{3C8E3230-562A-491F-A973-FAD7AED3AB81}" dt="2025-08-19T18:35:16.854" v="169" actId="255"/>
          <ac:spMkLst>
            <pc:docMk/>
            <pc:sldMk cId="2000455742" sldId="271"/>
            <ac:spMk id="114" creationId="{00000000-0000-0000-0000-000000000000}"/>
          </ac:spMkLst>
        </pc:spChg>
        <pc:spChg chg="mod">
          <ac:chgData name="Shreya jayaram" userId="2ba9c64152b4927f" providerId="LiveId" clId="{3C8E3230-562A-491F-A973-FAD7AED3AB81}" dt="2025-08-19T18:35:11.025" v="168" actId="1076"/>
          <ac:spMkLst>
            <pc:docMk/>
            <pc:sldMk cId="2000455742" sldId="271"/>
            <ac:spMk id="115" creationId="{00000000-0000-0000-0000-000000000000}"/>
          </ac:spMkLst>
        </pc:spChg>
      </pc:sldChg>
      <pc:sldChg chg="modSp mod">
        <pc:chgData name="Shreya jayaram" userId="2ba9c64152b4927f" providerId="LiveId" clId="{3C8E3230-562A-491F-A973-FAD7AED3AB81}" dt="2025-08-19T18:35:00.975" v="167" actId="255"/>
        <pc:sldMkLst>
          <pc:docMk/>
          <pc:sldMk cId="3338832548" sldId="272"/>
        </pc:sldMkLst>
        <pc:spChg chg="mod">
          <ac:chgData name="Shreya jayaram" userId="2ba9c64152b4927f" providerId="LiveId" clId="{3C8E3230-562A-491F-A973-FAD7AED3AB81}" dt="2025-08-19T18:35:00.975" v="167" actId="255"/>
          <ac:spMkLst>
            <pc:docMk/>
            <pc:sldMk cId="3338832548" sldId="272"/>
            <ac:spMk id="114" creationId="{00000000-0000-0000-0000-000000000000}"/>
          </ac:spMkLst>
        </pc:spChg>
        <pc:spChg chg="mod">
          <ac:chgData name="Shreya jayaram" userId="2ba9c64152b4927f" providerId="LiveId" clId="{3C8E3230-562A-491F-A973-FAD7AED3AB81}" dt="2025-08-19T18:31:45.500" v="132" actId="1076"/>
          <ac:spMkLst>
            <pc:docMk/>
            <pc:sldMk cId="3338832548" sldId="272"/>
            <ac:spMk id="115" creationId="{00000000-0000-0000-0000-000000000000}"/>
          </ac:spMkLst>
        </pc:spChg>
      </pc:sldChg>
      <pc:sldChg chg="modSp mod">
        <pc:chgData name="Shreya jayaram" userId="2ba9c64152b4927f" providerId="LiveId" clId="{3C8E3230-562A-491F-A973-FAD7AED3AB81}" dt="2025-08-19T18:34:43.753" v="166" actId="403"/>
        <pc:sldMkLst>
          <pc:docMk/>
          <pc:sldMk cId="1030816154" sldId="273"/>
        </pc:sldMkLst>
        <pc:spChg chg="mod">
          <ac:chgData name="Shreya jayaram" userId="2ba9c64152b4927f" providerId="LiveId" clId="{3C8E3230-562A-491F-A973-FAD7AED3AB81}" dt="2025-08-19T18:34:09.289" v="155" actId="20577"/>
          <ac:spMkLst>
            <pc:docMk/>
            <pc:sldMk cId="1030816154" sldId="273"/>
            <ac:spMk id="114" creationId="{00000000-0000-0000-0000-000000000000}"/>
          </ac:spMkLst>
        </pc:spChg>
        <pc:spChg chg="mod">
          <ac:chgData name="Shreya jayaram" userId="2ba9c64152b4927f" providerId="LiveId" clId="{3C8E3230-562A-491F-A973-FAD7AED3AB81}" dt="2025-08-19T18:34:43.753" v="166" actId="403"/>
          <ac:spMkLst>
            <pc:docMk/>
            <pc:sldMk cId="1030816154" sldId="273"/>
            <ac:spMk id="115" creationId="{00000000-0000-0000-0000-000000000000}"/>
          </ac:spMkLst>
        </pc:spChg>
      </pc:sldChg>
      <pc:sldChg chg="modSp mod">
        <pc:chgData name="Shreya jayaram" userId="2ba9c64152b4927f" providerId="LiveId" clId="{3C8E3230-562A-491F-A973-FAD7AED3AB81}" dt="2025-08-19T18:29:19.693" v="117" actId="20577"/>
        <pc:sldMkLst>
          <pc:docMk/>
          <pc:sldMk cId="2637979550" sldId="274"/>
        </pc:sldMkLst>
        <pc:spChg chg="mod">
          <ac:chgData name="Shreya jayaram" userId="2ba9c64152b4927f" providerId="LiveId" clId="{3C8E3230-562A-491F-A973-FAD7AED3AB81}" dt="2025-08-19T18:29:19.693" v="117" actId="20577"/>
          <ac:spMkLst>
            <pc:docMk/>
            <pc:sldMk cId="2637979550" sldId="274"/>
            <ac:spMk id="2" creationId="{C8FEC606-E87D-2A92-25DE-8944F53F5D07}"/>
          </ac:spMkLst>
        </pc:spChg>
        <pc:spChg chg="mod">
          <ac:chgData name="Shreya jayaram" userId="2ba9c64152b4927f" providerId="LiveId" clId="{3C8E3230-562A-491F-A973-FAD7AED3AB81}" dt="2025-08-19T18:05:08.369" v="21" actId="20577"/>
          <ac:spMkLst>
            <pc:docMk/>
            <pc:sldMk cId="2637979550" sldId="274"/>
            <ac:spMk id="96" creationId="{00000000-0000-0000-0000-000000000000}"/>
          </ac:spMkLst>
        </pc:spChg>
      </pc:sldChg>
      <pc:sldChg chg="addSp delSp modSp new mod">
        <pc:chgData name="Shreya jayaram" userId="2ba9c64152b4927f" providerId="LiveId" clId="{3C8E3230-562A-491F-A973-FAD7AED3AB81}" dt="2025-08-19T18:33:54.492" v="154" actId="2711"/>
        <pc:sldMkLst>
          <pc:docMk/>
          <pc:sldMk cId="1796508731" sldId="275"/>
        </pc:sldMkLst>
        <pc:spChg chg="mod">
          <ac:chgData name="Shreya jayaram" userId="2ba9c64152b4927f" providerId="LiveId" clId="{3C8E3230-562A-491F-A973-FAD7AED3AB81}" dt="2025-08-19T18:33:54.492" v="154" actId="2711"/>
          <ac:spMkLst>
            <pc:docMk/>
            <pc:sldMk cId="1796508731" sldId="275"/>
            <ac:spMk id="2" creationId="{EB1BD3F9-3061-0280-47D5-359B4A748E1F}"/>
          </ac:spMkLst>
        </pc:spChg>
        <pc:spChg chg="del">
          <ac:chgData name="Shreya jayaram" userId="2ba9c64152b4927f" providerId="LiveId" clId="{3C8E3230-562A-491F-A973-FAD7AED3AB81}" dt="2025-08-19T18:06:25.833" v="27"/>
          <ac:spMkLst>
            <pc:docMk/>
            <pc:sldMk cId="1796508731" sldId="275"/>
            <ac:spMk id="3" creationId="{0E6697B1-A58D-DB64-6D6A-C18D10BD6E7E}"/>
          </ac:spMkLst>
        </pc:spChg>
        <pc:spChg chg="add mod">
          <ac:chgData name="Shreya jayaram" userId="2ba9c64152b4927f" providerId="LiveId" clId="{3C8E3230-562A-491F-A973-FAD7AED3AB81}" dt="2025-08-19T18:31:06.296" v="127" actId="2710"/>
          <ac:spMkLst>
            <pc:docMk/>
            <pc:sldMk cId="1796508731" sldId="275"/>
            <ac:spMk id="4" creationId="{E0613A0C-63C9-CCB0-2E65-C6F449C45C8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rtualherbalgarden4-bot/virtual-herbal-garde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dirty="0">
                <a:solidFill>
                  <a:schemeClr val="tx1"/>
                </a:solidFill>
              </a:rPr>
              <a:t>Virtual Herbal Garden 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PSCS_433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139714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lang="en-GB" sz="18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IN" b="1" dirty="0">
                <a:solidFill>
                  <a:schemeClr val="bg2">
                    <a:lumMod val="75000"/>
                  </a:schemeClr>
                </a:solidFill>
              </a:rPr>
              <a:t>Mr. Arunkumar K. Bhavikatti</a:t>
            </a:r>
            <a:endParaRPr sz="1800" dirty="0">
              <a:solidFill>
                <a:schemeClr val="bg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871864389"/>
              </p:ext>
            </p:extLst>
          </p:nvPr>
        </p:nvGraphicFramePr>
        <p:xfrm>
          <a:off x="549615" y="2611004"/>
          <a:ext cx="5418675" cy="274326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8281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69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20221CIT0124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20221CIT0126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20221CIT0130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Saishree N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Shreya A J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Nithya H D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2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2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2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2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650635" y="4494571"/>
            <a:ext cx="1205241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Computer Science Engineering (Internet of things)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IN" sz="1800" dirty="0">
                <a:solidFill>
                  <a:srgbClr val="FF0000"/>
                </a:solidFill>
              </a:rPr>
              <a:t>Dr. Anandaraj S.P 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dirty="0">
                <a:solidFill>
                  <a:srgbClr val="FF0000"/>
                </a:solidFill>
              </a:rPr>
              <a:t>Dr. </a:t>
            </a:r>
            <a:r>
              <a:rPr lang="en-IN" sz="1800" dirty="0" err="1">
                <a:solidFill>
                  <a:srgbClr val="FF0000"/>
                </a:solidFill>
              </a:rPr>
              <a:t>Sharmasth</a:t>
            </a:r>
            <a:r>
              <a:rPr lang="en-IN" sz="1800" dirty="0">
                <a:solidFill>
                  <a:srgbClr val="FF0000"/>
                </a:solidFill>
              </a:rPr>
              <a:t> Vali </a:t>
            </a:r>
            <a:endParaRPr lang="en-US" sz="1800" b="1" i="0" u="none" strike="noStrike" cap="none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PSCS_433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Presidency University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:Software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 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develop a technical solution for providing digital access to AYUSH medicinal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plant knowledge, enabling students and users from any location to explore and 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learn traditionally preserved herbal information which is currently limited to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physical gardens and local institutions.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57459" y="945164"/>
            <a:ext cx="8891341" cy="47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655782" y="37881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FEC606-E87D-2A92-25DE-8944F53F5D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4776" y="1073661"/>
            <a:ext cx="10307186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000" dirty="0">
                <a:latin typeface="Cambiria"/>
              </a:rPr>
              <a:t>The AYUSH sector relies heavily on medicinal plants and herbs, which form the backbone of traditional healing practices. However, physical gardens that are not accessible to everyone. A Virtual Herbal Garden will bridge this gap by offering a digital platform where users can explore, learn, and understand the significance of various medicinal plants from the comfort of their homes.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000" dirty="0">
                <a:latin typeface="Cambiria"/>
              </a:rPr>
              <a:t>This platform should make the knowledge of medicinal plants accessible to a wider audience, promoting awareness and understanding of traditional herbal practices.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000" dirty="0">
                <a:latin typeface="Cambiria"/>
              </a:rPr>
              <a:t>Expected Outcome: The expected outcome is a comprehensive Virtual Herbal Garden that serves as a valuable educational tool for students, practitioners, and enthusiasts of the AYUSH sector.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iria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iria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BD3F9-3061-0280-47D5-359B4A748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iria"/>
              </a:rPr>
              <a:t>OBJECTIVES</a:t>
            </a:r>
            <a:r>
              <a:rPr lang="en-IN" dirty="0"/>
              <a:t>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613A0C-63C9-CCB0-2E65-C6F449C45C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799" y="1153426"/>
            <a:ext cx="1066799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iria"/>
              </a:rPr>
              <a:t>To develop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iria"/>
              </a:rPr>
              <a:t>interactive web-based platform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iria"/>
              </a:rPr>
              <a:t>that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iria"/>
              </a:rPr>
              <a:t>showcases medicinal plants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iria"/>
              </a:rPr>
              <a:t>used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iria"/>
              </a:rPr>
              <a:t>AYUSH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iria"/>
              </a:rPr>
              <a:t> systems.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iria"/>
              </a:rPr>
              <a:t>To provide detailed information about each plant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iria"/>
              </a:rPr>
              <a:t>, including botanical details, medicinal uses and cultivation practices.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iria"/>
              </a:rPr>
              <a:t>To enhance learning through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iria"/>
              </a:rPr>
              <a:t>3D models, multimedia content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iria"/>
              </a:rPr>
              <a:t>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iria"/>
              </a:rPr>
              <a:t>guided virtual tours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iria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iria"/>
              </a:rPr>
              <a:t>To enable users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iria"/>
              </a:rPr>
              <a:t>easily search, filter, bookmark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iria"/>
              </a:rPr>
              <a:t>and explore plants in an engaging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iria"/>
              </a:rPr>
              <a:t>user-friendly manner.</a:t>
            </a:r>
          </a:p>
        </p:txBody>
      </p:sp>
    </p:spTree>
    <p:extLst>
      <p:ext uri="{BB962C8B-B14F-4D97-AF65-F5344CB8AC3E}">
        <p14:creationId xmlns:p14="http://schemas.microsoft.com/office/powerpoint/2010/main" val="1796508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717755" y="1150374"/>
            <a:ext cx="10763045" cy="4945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34290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600" b="1" dirty="0">
                <a:latin typeface="Cambiria"/>
                <a:ea typeface="Cambria" panose="02040503050406030204" pitchFamily="18" charset="0"/>
              </a:rPr>
              <a:t>Technology Stack Components: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3200" b="1" dirty="0">
                <a:latin typeface="Cambiria"/>
              </a:rPr>
              <a:t>Frontend:</a:t>
            </a:r>
            <a:endParaRPr lang="en-IN" sz="3200" dirty="0">
              <a:latin typeface="Cambiria"/>
            </a:endParaRPr>
          </a:p>
          <a:p>
            <a:pPr>
              <a:lnSpc>
                <a:spcPct val="150000"/>
              </a:lnSpc>
            </a:pPr>
            <a:r>
              <a:rPr lang="en-IN" sz="3200" dirty="0">
                <a:latin typeface="Cambiria"/>
              </a:rPr>
              <a:t>React.js – Component-based UI development</a:t>
            </a:r>
          </a:p>
          <a:p>
            <a:pPr>
              <a:lnSpc>
                <a:spcPct val="150000"/>
              </a:lnSpc>
            </a:pPr>
            <a:r>
              <a:rPr lang="en-IN" sz="3200" dirty="0">
                <a:latin typeface="Cambiria"/>
              </a:rPr>
              <a:t>HTML5 &amp; CSS3 – Structure and styling of the user interface</a:t>
            </a:r>
          </a:p>
          <a:p>
            <a:pPr>
              <a:lnSpc>
                <a:spcPct val="150000"/>
              </a:lnSpc>
            </a:pPr>
            <a:r>
              <a:rPr lang="en-IN" sz="3200" dirty="0">
                <a:latin typeface="Cambiria"/>
              </a:rPr>
              <a:t>UI/UX Tools (Figma / Adobe XD) – For designing interactive and user-friendly screens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3200" b="1" dirty="0">
                <a:latin typeface="Cambiria"/>
              </a:rPr>
              <a:t>Backend:</a:t>
            </a:r>
            <a:endParaRPr lang="en-IN" sz="3200" dirty="0">
              <a:latin typeface="Cambiria"/>
            </a:endParaRPr>
          </a:p>
          <a:p>
            <a:pPr>
              <a:lnSpc>
                <a:spcPct val="150000"/>
              </a:lnSpc>
            </a:pPr>
            <a:r>
              <a:rPr lang="en-IN" sz="3200" dirty="0">
                <a:latin typeface="Cambiria"/>
              </a:rPr>
              <a:t>Node.js – Server-side runtime environment</a:t>
            </a:r>
          </a:p>
          <a:p>
            <a:pPr>
              <a:lnSpc>
                <a:spcPct val="150000"/>
              </a:lnSpc>
            </a:pPr>
            <a:r>
              <a:rPr lang="en-IN" sz="3200" dirty="0">
                <a:latin typeface="Cambiria"/>
              </a:rPr>
              <a:t>Express.js – Web framework for building RESTful APIs and handling requests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3200" b="1" dirty="0">
                <a:latin typeface="Cambiria"/>
              </a:rPr>
              <a:t>Database:</a:t>
            </a:r>
            <a:endParaRPr lang="en-IN" sz="3200" dirty="0">
              <a:latin typeface="Cambiria"/>
            </a:endParaRPr>
          </a:p>
          <a:p>
            <a:pPr>
              <a:lnSpc>
                <a:spcPct val="150000"/>
              </a:lnSpc>
            </a:pPr>
            <a:r>
              <a:rPr lang="en-IN" sz="3200" dirty="0">
                <a:latin typeface="Cambiria"/>
              </a:rPr>
              <a:t>MongoDB Atlas (Cloud) – NoSQL database to store plant information, multimedia paths, user bookmarks, and tour content</a:t>
            </a:r>
          </a:p>
          <a:p>
            <a:pPr marL="34290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2000" dirty="0">
              <a:latin typeface="Cambiria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2000" dirty="0">
              <a:latin typeface="Cambiria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2000" dirty="0">
              <a:latin typeface="Cambiria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2000" dirty="0">
              <a:latin typeface="Cambiria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2000" dirty="0">
              <a:latin typeface="Cambiria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 dirty="0">
              <a:latin typeface="Cambiria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(contd...)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762000" y="762138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dirty="0">
                <a:latin typeface="Cambiria"/>
                <a:ea typeface="Cambria" panose="02040503050406030204" pitchFamily="18" charset="0"/>
              </a:rPr>
              <a:t>Software and Hardware Requirements: </a:t>
            </a:r>
          </a:p>
          <a:p>
            <a:pPr marL="76200" indent="0">
              <a:buNone/>
            </a:pPr>
            <a:r>
              <a:rPr lang="en-IN" sz="2000" b="1" dirty="0">
                <a:latin typeface="Cambiria"/>
              </a:rPr>
              <a:t>1. Software Requirements</a:t>
            </a:r>
            <a:endParaRPr lang="en-IN" sz="2000" dirty="0">
              <a:latin typeface="Cambiria"/>
            </a:endParaRPr>
          </a:p>
          <a:p>
            <a:pPr marL="533400" lvl="1" indent="0">
              <a:buNone/>
            </a:pPr>
            <a:r>
              <a:rPr lang="en-IN" dirty="0">
                <a:latin typeface="Cambiria"/>
              </a:rPr>
              <a:t>Frontend:</a:t>
            </a:r>
            <a:br>
              <a:rPr lang="en-IN" dirty="0">
                <a:latin typeface="Cambiria"/>
              </a:rPr>
            </a:br>
            <a:r>
              <a:rPr lang="en-IN" dirty="0">
                <a:latin typeface="Cambiria"/>
              </a:rPr>
              <a:t>  – Frameworks/Languages: React.js, HTML5, CSS3, JavaScript</a:t>
            </a:r>
            <a:br>
              <a:rPr lang="en-IN" dirty="0">
                <a:latin typeface="Cambiria"/>
              </a:rPr>
            </a:br>
            <a:r>
              <a:rPr lang="en-IN" dirty="0">
                <a:latin typeface="Cambiria"/>
              </a:rPr>
              <a:t>  – UI/UX Tools: Figma / Adobe XD (for designing interfaces)</a:t>
            </a:r>
          </a:p>
          <a:p>
            <a:pPr marL="533400" lvl="1" indent="0">
              <a:buNone/>
            </a:pPr>
            <a:r>
              <a:rPr lang="en-IN" dirty="0">
                <a:latin typeface="Cambiria"/>
              </a:rPr>
              <a:t>Backend:</a:t>
            </a:r>
            <a:br>
              <a:rPr lang="en-IN" dirty="0">
                <a:latin typeface="Cambiria"/>
              </a:rPr>
            </a:br>
            <a:r>
              <a:rPr lang="en-IN" dirty="0">
                <a:latin typeface="Cambiria"/>
              </a:rPr>
              <a:t>  – Programming Language / Runtime: Node.js</a:t>
            </a:r>
            <a:br>
              <a:rPr lang="en-IN" dirty="0">
                <a:latin typeface="Cambiria"/>
              </a:rPr>
            </a:br>
            <a:r>
              <a:rPr lang="en-IN" dirty="0">
                <a:latin typeface="Cambiria"/>
              </a:rPr>
              <a:t>  – Framework: Express.js</a:t>
            </a:r>
            <a:br>
              <a:rPr lang="en-IN" dirty="0">
                <a:latin typeface="Cambiria"/>
              </a:rPr>
            </a:br>
            <a:r>
              <a:rPr lang="en-IN" dirty="0">
                <a:latin typeface="Cambiria"/>
              </a:rPr>
              <a:t>  – API Security: JWT, HTTPS (SSL/TLS)</a:t>
            </a:r>
          </a:p>
          <a:p>
            <a:pPr marL="533400" lvl="1" indent="0">
              <a:buNone/>
            </a:pPr>
            <a:r>
              <a:rPr lang="en-IN" dirty="0">
                <a:latin typeface="Cambiria"/>
              </a:rPr>
              <a:t>Database:</a:t>
            </a:r>
            <a:br>
              <a:rPr lang="en-IN" dirty="0">
                <a:latin typeface="Cambiria"/>
              </a:rPr>
            </a:br>
            <a:r>
              <a:rPr lang="en-IN" dirty="0">
                <a:latin typeface="Cambiria"/>
              </a:rPr>
              <a:t>  – Cloud NoSQL Database: MongoDB Atlas</a:t>
            </a:r>
          </a:p>
          <a:p>
            <a:pPr marL="533400" lvl="1" indent="0">
              <a:buNone/>
            </a:pPr>
            <a:r>
              <a:rPr lang="en-IN" dirty="0">
                <a:latin typeface="Cambiria"/>
              </a:rPr>
              <a:t>Tools / DevOps:</a:t>
            </a:r>
            <a:br>
              <a:rPr lang="en-IN" dirty="0">
                <a:latin typeface="Cambiria"/>
              </a:rPr>
            </a:br>
            <a:r>
              <a:rPr lang="en-IN" dirty="0">
                <a:latin typeface="Cambiria"/>
              </a:rPr>
              <a:t>  – Version Control: Git, GitHub</a:t>
            </a:r>
            <a:br>
              <a:rPr lang="en-IN" dirty="0">
                <a:latin typeface="Cambiria"/>
              </a:rPr>
            </a:br>
            <a:r>
              <a:rPr lang="en-IN" dirty="0">
                <a:latin typeface="Cambiria"/>
              </a:rPr>
              <a:t>  – API Testing: Postman</a:t>
            </a:r>
            <a:br>
              <a:rPr lang="en-IN" dirty="0">
                <a:latin typeface="Cambiria"/>
              </a:rPr>
            </a:br>
            <a:r>
              <a:rPr lang="en-IN" dirty="0">
                <a:latin typeface="Cambiria"/>
              </a:rPr>
              <a:t>  – Deployment Platforms: Netlify (Frontend), Render / Railway / Heroku (Backend)</a:t>
            </a:r>
          </a:p>
          <a:p>
            <a:pPr marL="800100" lvl="1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lang="en-US" dirty="0">
              <a:latin typeface="Cambiria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 dirty="0">
              <a:latin typeface="Cambiria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(contd...)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9525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IN" sz="2000" b="1" dirty="0">
                <a:latin typeface="Cambiria"/>
              </a:rPr>
              <a:t>2. Hardware Requirements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2000" dirty="0">
                <a:latin typeface="Cambiria"/>
              </a:rPr>
              <a:t>Development Machine:</a:t>
            </a:r>
            <a:br>
              <a:rPr lang="en-IN" sz="2000" dirty="0">
                <a:latin typeface="Cambiria"/>
              </a:rPr>
            </a:br>
            <a:r>
              <a:rPr lang="en-IN" sz="2000" dirty="0">
                <a:latin typeface="Cambiria"/>
              </a:rPr>
              <a:t>  – Processor: Intel i3 / </a:t>
            </a:r>
            <a:r>
              <a:rPr lang="en-IN" sz="2000" dirty="0" err="1">
                <a:latin typeface="Cambiria"/>
              </a:rPr>
              <a:t>Ryzen</a:t>
            </a:r>
            <a:r>
              <a:rPr lang="en-IN" sz="2000" dirty="0">
                <a:latin typeface="Cambiria"/>
              </a:rPr>
              <a:t> 3 or higher</a:t>
            </a:r>
            <a:br>
              <a:rPr lang="en-IN" sz="2000" dirty="0">
                <a:latin typeface="Cambiria"/>
              </a:rPr>
            </a:br>
            <a:r>
              <a:rPr lang="en-IN" sz="2000" dirty="0">
                <a:latin typeface="Cambiria"/>
              </a:rPr>
              <a:t>  – RAM: Minimum 8 GB (recommended 16 GB for 3D assets)</a:t>
            </a:r>
            <a:br>
              <a:rPr lang="en-IN" sz="2000" dirty="0">
                <a:latin typeface="Cambiria"/>
              </a:rPr>
            </a:br>
            <a:r>
              <a:rPr lang="en-IN" sz="2000" dirty="0">
                <a:latin typeface="Cambiria"/>
              </a:rPr>
              <a:t>  – Storage: Minimum 50 GB free (SSD preferred)</a:t>
            </a:r>
            <a:br>
              <a:rPr lang="en-IN" sz="2000" dirty="0">
                <a:latin typeface="Cambiria"/>
              </a:rPr>
            </a:br>
            <a:r>
              <a:rPr lang="en-IN" sz="2000" dirty="0">
                <a:latin typeface="Cambiria"/>
              </a:rPr>
              <a:t>  – Internet: Stable connection for cloud DB and deployment access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2000" dirty="0">
                <a:latin typeface="Cambiria"/>
              </a:rPr>
              <a:t> End Users:</a:t>
            </a:r>
            <a:br>
              <a:rPr lang="en-IN" sz="2000" dirty="0">
                <a:latin typeface="Cambiria"/>
              </a:rPr>
            </a:br>
            <a:r>
              <a:rPr lang="en-IN" sz="2000" dirty="0">
                <a:latin typeface="Cambiria"/>
              </a:rPr>
              <a:t>  – Desktop / Laptop / Smartphone</a:t>
            </a:r>
            <a:br>
              <a:rPr lang="en-IN" sz="2000" dirty="0">
                <a:latin typeface="Cambiria"/>
              </a:rPr>
            </a:br>
            <a:r>
              <a:rPr lang="en-IN" sz="2000" dirty="0">
                <a:latin typeface="Cambiria"/>
              </a:rPr>
              <a:t>  – Modern web browser (Chrome / Edge)</a:t>
            </a:r>
            <a:br>
              <a:rPr lang="en-IN" sz="2000" dirty="0">
                <a:latin typeface="Cambiria"/>
              </a:rPr>
            </a:br>
            <a:r>
              <a:rPr lang="en-IN" sz="2000" dirty="0">
                <a:latin typeface="Cambiria"/>
              </a:rPr>
              <a:t>  – Internet connection to access the virtual garden web application</a:t>
            </a:r>
          </a:p>
          <a:p>
            <a:pPr marL="34290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IN" sz="2000" dirty="0">
              <a:latin typeface="Cambiria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Link: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https://github.com/virtualherbalgarden4-bot/virtual-herbal-garden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</a:t>
            </a:r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Chart):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6538F1-189F-0986-8744-C5CE17A1E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38" y="1337187"/>
            <a:ext cx="11297264" cy="471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/>
              <a:t>[1]. A. Kumar, B. R. Patel, and C. Zhang, “Plant disease identification using convolutional neural networks,” </a:t>
            </a:r>
            <a:r>
              <a:rPr lang="en-US" i="1" dirty="0"/>
              <a:t>IEEE Access</a:t>
            </a:r>
            <a:r>
              <a:rPr lang="en-US" dirty="0"/>
              <a:t>, vol. 9, pp. 34567–34578, Mar. 2021.</a:t>
            </a:r>
          </a:p>
          <a:p>
            <a:pPr marL="609600" lvl="1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/>
              <a:t>[2]. J. Smith, “Deep learning in agricultural systems,” </a:t>
            </a:r>
            <a:r>
              <a:rPr lang="en-US" i="1" dirty="0"/>
              <a:t>IEEE Transactions on Neural Networks and Learning Systems</a:t>
            </a:r>
            <a:r>
              <a:rPr lang="en-US" dirty="0"/>
              <a:t>, vol. 32, no. 7, pp. 1234–1245, Jul. 2021.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835</Words>
  <Application>Microsoft Office PowerPoint</Application>
  <PresentationFormat>Widescreen</PresentationFormat>
  <Paragraphs>94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Cambiria</vt:lpstr>
      <vt:lpstr>Cambria</vt:lpstr>
      <vt:lpstr>Verdana</vt:lpstr>
      <vt:lpstr>Wingdings</vt:lpstr>
      <vt:lpstr>Bioinformatics</vt:lpstr>
      <vt:lpstr>Virtual Herbal Garden </vt:lpstr>
      <vt:lpstr>Problem Statement Number: PSCS_433 </vt:lpstr>
      <vt:lpstr>Content:</vt:lpstr>
      <vt:lpstr>Problem Statement:</vt:lpstr>
      <vt:lpstr>OBJECTIVES:</vt:lpstr>
      <vt:lpstr>Analysis of Problem Statement:</vt:lpstr>
      <vt:lpstr>Analysis of Problem Statement (contd...)</vt:lpstr>
      <vt:lpstr>Analysis of Problem Statement (contd...)</vt:lpstr>
      <vt:lpstr>Github Link:</vt:lpstr>
      <vt:lpstr>Timeline of the Project (Gantt Chart):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nithyahd2004@gmail.com</cp:lastModifiedBy>
  <cp:revision>42</cp:revision>
  <dcterms:modified xsi:type="dcterms:W3CDTF">2025-08-19T18:44:41Z</dcterms:modified>
</cp:coreProperties>
</file>